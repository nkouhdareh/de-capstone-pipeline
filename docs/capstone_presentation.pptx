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75" r:id="rId12"/>
    <p:sldId id="277" r:id="rId13"/>
    <p:sldId id="266" r:id="rId14"/>
    <p:sldId id="263" r:id="rId15"/>
    <p:sldId id="276" r:id="rId16"/>
    <p:sldId id="267" r:id="rId17"/>
    <p:sldId id="279" r:id="rId18"/>
    <p:sldId id="268" r:id="rId19"/>
    <p:sldId id="271" r:id="rId20"/>
    <p:sldId id="272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3"/>
        <p:guide pos="29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hyperlink" Target="https://github.com/nkouhdareh/de-capstone-pipeline" TargetMode="External"/><Relationship Id="rId2" Type="http://schemas.openxmlformats.org/officeDocument/2006/relationships/image" Target="../media/image17.png"/><Relationship Id="rId1" Type="http://schemas.openxmlformats.org/officeDocument/2006/relationships/hyperlink" Target="https://www.linkedin.com/in/nastaran-kouhdareh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FD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2330744"/>
            <a:ext cx="2926080" cy="21965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783080"/>
            <a:ext cx="75895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8FAFC"/>
                </a:solidFill>
                <a:latin typeface="Segoe UI Semibold" panose="020B0702040204020203"/>
              </a:rPr>
              <a:t>Drug Safety</a:t>
            </a:r>
            <a:endParaRPr sz="5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F8FAFC"/>
                </a:solidFill>
                <a:latin typeface="Segoe UI Semibold" panose="020B0702040204020203"/>
              </a:rPr>
              <a:t>Signal Detection</a:t>
            </a:r>
            <a:endParaRPr sz="5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401568"/>
            <a:ext cx="7406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A7B0C0"/>
                </a:solidFill>
                <a:latin typeface="Segoe UI" panose="020B0502040204020203"/>
              </a:rPr>
              <a:t>An end-to-end pharmacovigilance data pipeline on openFDA FAERS data</a:t>
            </a:r>
            <a:endParaRPr sz="18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4261104"/>
            <a:ext cx="1463040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4498848"/>
            <a:ext cx="5486400" cy="6203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8FAFC"/>
                </a:solidFill>
                <a:latin typeface="Segoe UI" panose="020B0502040204020203"/>
              </a:rPr>
              <a:t>Nastaran Kouhdareh</a:t>
            </a:r>
            <a:endParaRPr sz="2100" b="1" i="0">
              <a:solidFill>
                <a:srgbClr val="F8FAFC"/>
              </a:solidFill>
              <a:latin typeface="Segoe UI" panose="020B0502040204020203"/>
            </a:endParaRP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A7B0C0"/>
                </a:solidFill>
                <a:latin typeface="Segoe UI" panose="020B0502040204020203"/>
              </a:rPr>
              <a:t>August 2026</a:t>
            </a:r>
            <a:endParaRPr sz="16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9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F87171"/>
                </a:solidFill>
                <a:latin typeface="Segoe UI" panose="020B0502040204020203"/>
              </a:rPr>
              <a:t>THE PROBLEM</a:t>
            </a:r>
            <a:endParaRPr sz="1300" b="1" i="0" spc="160">
              <a:solidFill>
                <a:srgbClr val="F87171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Three things stand between the data and an answer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90874" cy="27889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764792"/>
            <a:ext cx="76200" cy="273405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2011680"/>
            <a:ext cx="2923946" cy="1622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8FAFC"/>
                </a:solidFill>
                <a:latin typeface="Segoe UI Semibold" panose="020B0702040204020203"/>
              </a:rPr>
              <a:t>Fragmented sources</a:t>
            </a:r>
            <a:endParaRPr sz="22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</a:t>
            </a:r>
            <a:r>
              <a:rPr lang="en-US" sz="1600" b="0">
                <a:solidFill>
                  <a:srgbClr val="F87171"/>
                </a:solidFill>
                <a:latin typeface="Segoe UI" panose="020B0502040204020203"/>
              </a:rPr>
              <a:t>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FAERS reports,</a:t>
            </a:r>
            <a:r>
              <a:rPr lang="en-US" sz="1600" b="0">
                <a:solidFill>
                  <a:srgbClr val="A7B0C0"/>
                </a:solidFill>
                <a:latin typeface="Segoe UI" panose="020B0502040204020203"/>
              </a:rPr>
              <a:t> deeply nested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 </a:t>
            </a:r>
            <a:r>
              <a:rPr lang="en-US" sz="1600" b="0">
                <a:solidFill>
                  <a:srgbClr val="A7B0C0"/>
                </a:solidFill>
                <a:latin typeface="Segoe UI" panose="020B0502040204020203"/>
              </a:rPr>
              <a:t>                    </a:t>
            </a:r>
            <a:r>
              <a:rPr lang="en-US" sz="1600">
                <a:solidFill>
                  <a:srgbClr val="A7B0C0"/>
                </a:solidFill>
                <a:latin typeface="Segoe UI" panose="020B0502040204020203"/>
                <a:sym typeface="+mn-ea"/>
              </a:rPr>
              <a:t>       </a:t>
            </a:r>
            <a:r>
              <a:rPr lang="en-US" altLang="en-US" sz="1600">
                <a:solidFill>
                  <a:srgbClr val="A7B0C0"/>
                </a:solidFill>
                <a:latin typeface="Segoe UI" panose="020B0502040204020203"/>
                <a:sym typeface="+mn-ea"/>
              </a:rPr>
              <a:t> </a:t>
            </a:r>
            <a:r>
              <a:rPr lang="en-US" sz="1600" b="0">
                <a:solidFill>
                  <a:srgbClr val="A7B0C0"/>
                </a:solidFill>
                <a:latin typeface="Segoe UI" panose="020B0502040204020203"/>
              </a:rPr>
              <a:t>      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lang="en-US" sz="1600" b="0">
                <a:solidFill>
                  <a:srgbClr val="A7B0C0"/>
                </a:solidFill>
                <a:latin typeface="Segoe UI" panose="020B0502040204020203"/>
              </a:rPr>
              <a:t>La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bels, NDC products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No shared drug identifier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50410" y="1737360"/>
            <a:ext cx="3490874" cy="27889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50410" y="1764792"/>
            <a:ext cx="76200" cy="273405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1306" y="2011680"/>
            <a:ext cx="2923946" cy="2188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8FAFC"/>
                </a:solidFill>
                <a:latin typeface="Segoe UI Semibold" panose="020B0702040204020203"/>
              </a:rPr>
              <a:t>Messy drug names</a:t>
            </a:r>
            <a:endParaRPr sz="22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One substance, many written forms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Brand, generic and dose text mixed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lang="en-US" sz="1600" b="0">
                <a:solidFill>
                  <a:srgbClr val="A7B0C0"/>
                </a:solidFill>
                <a:latin typeface="Segoe UI" panose="020B0502040204020203"/>
              </a:rPr>
              <a:t>Di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stinct drug signatures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52180" y="1737360"/>
            <a:ext cx="3490874" cy="27889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52180" y="1764792"/>
            <a:ext cx="76200" cy="273405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63076" y="2011680"/>
            <a:ext cx="2923946" cy="21882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F8FAFC"/>
                </a:solidFill>
                <a:latin typeface="Segoe UI Semibold" panose="020B0702040204020203"/>
              </a:rPr>
              <a:t>Review does not scale</a:t>
            </a:r>
            <a:endParaRPr sz="22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lang="en-US" sz="1600" b="0">
                <a:solidFill>
                  <a:srgbClr val="A7B0C0"/>
                </a:solidFill>
                <a:latin typeface="Segoe UI" panose="020B0502040204020203"/>
              </a:rPr>
              <a:t>Many dr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ug-reaction pairs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No ranking and no visible support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600" b="0">
                <a:solidFill>
                  <a:srgbClr val="F87171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An analyst cannot read them by hand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5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2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FF8A1F"/>
                </a:solidFill>
                <a:latin typeface="Segoe UI" panose="020B0502040204020203"/>
              </a:rPr>
              <a:t>THE QUESTION</a:t>
            </a:r>
            <a:endParaRPr sz="1300" b="1" i="0" spc="160">
              <a:solidFill>
                <a:srgbClr val="FF8A1F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What I set out to answer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76200" cy="233172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9536" y="1627632"/>
            <a:ext cx="649224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F8FAFC"/>
                </a:solidFill>
                <a:latin typeface="Segoe UI Semibold" panose="020B0702040204020203"/>
              </a:rPr>
              <a:t>Which drug-reaction pairs are reported far more often than chance would explain — and can I rank them so an expert can triage the top of the list?</a:t>
            </a:r>
            <a:endParaRPr sz="27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" y="4078224"/>
            <a:ext cx="6492240" cy="1333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endParaRPr sz="1600" b="0" i="0">
              <a:solidFill>
                <a:srgbClr val="A7B0C0"/>
              </a:solidFill>
              <a:latin typeface="Segoe UI" panose="020B0502040204020203"/>
            </a:endParaRPr>
          </a:p>
          <a:p>
            <a:pPr algn="l"/>
            <a:endParaRPr sz="1600" b="0" i="0">
              <a:solidFill>
                <a:srgbClr val="A7B0C0"/>
              </a:solidFill>
              <a:latin typeface="Segoe UI" panose="020B0502040204020203"/>
            </a:endParaRPr>
          </a:p>
          <a:p>
            <a:pPr algn="l"/>
            <a:endParaRPr sz="1600" b="0" i="0">
              <a:solidFill>
                <a:srgbClr val="A7B0C0"/>
              </a:solidFill>
              <a:latin typeface="Segoe UI" panose="020B0502040204020203"/>
            </a:endParaRPr>
          </a:p>
          <a:p>
            <a:pPr algn="l"/>
            <a:endParaRPr sz="1600" b="0" i="0">
              <a:solidFill>
                <a:srgbClr val="A7B0C0"/>
              </a:solidFill>
              <a:latin typeface="Segoe UI" panose="020B0502040204020203"/>
            </a:endParaRPr>
          </a:p>
          <a:p>
            <a:pPr algn="l"/>
            <a:r>
              <a:rPr sz="1600" b="0" i="0">
                <a:solidFill>
                  <a:srgbClr val="A7B0C0"/>
                </a:solidFill>
                <a:latin typeface="Segoe UI" panose="020B0502040204020203"/>
              </a:rPr>
              <a:t>The answer has to be a ranked candidate list, never an automatic verdict.</a:t>
            </a:r>
            <a:endParaRPr sz="16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589520" y="1572768"/>
            <a:ext cx="4053535" cy="331012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589520" y="1600200"/>
            <a:ext cx="76200" cy="3255264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00416" y="1847088"/>
            <a:ext cx="3486607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160">
                <a:solidFill>
                  <a:srgbClr val="FF8A1F"/>
                </a:solidFill>
                <a:latin typeface="Segoe UI" panose="020B0502040204020203"/>
              </a:rPr>
              <a:t>THE USER</a:t>
            </a:r>
            <a:endParaRPr sz="1300" b="1" i="0" spc="160">
              <a:solidFill>
                <a:srgbClr val="FF8A1F"/>
              </a:solidFill>
              <a:latin typeface="Segoe UI" panose="020B0502040204020203"/>
            </a:endParaRP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F8FAFC"/>
                </a:solidFill>
                <a:latin typeface="Segoe UI Semibold" panose="020B0702040204020203"/>
              </a:rPr>
              <a:t>A drug-safety analyst</a:t>
            </a:r>
            <a:endParaRPr sz="22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FF8A1F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Needs candidates to investigate, not raw reports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FF8A1F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Ranked by strength, with the counts behind them shown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600" b="0">
                <a:solidFill>
                  <a:srgbClr val="FF8A1F"/>
                </a:solidFill>
                <a:latin typeface="Segoe UI" panose="020B0502040204020203"/>
              </a:rPr>
              <a:t>—  </a:t>
            </a:r>
            <a:r>
              <a:rPr sz="1600" b="0">
                <a:solidFill>
                  <a:srgbClr val="A7B0C0"/>
                </a:solidFill>
                <a:latin typeface="Segoe UI" panose="020B0502040204020203"/>
              </a:rPr>
              <a:t>Uses it to decide what deserves a human look</a:t>
            </a:r>
            <a:endParaRPr sz="16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2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3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731520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Segoe UI Semibold" panose="020B0702040204020203"/>
              </a:rPr>
              <a:t>End-to-end architecture</a:t>
            </a:r>
            <a:endParaRPr sz="28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55279" y="658368"/>
            <a:ext cx="368777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A7B0C0"/>
                </a:solidFill>
                <a:latin typeface="Segoe UI" panose="020B0502040204020203"/>
              </a:rPr>
              <a:t>solid = data flow   ·   dashed = control</a:t>
            </a:r>
            <a:endParaRPr sz="12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239" y="1060704"/>
            <a:ext cx="8713216" cy="4901184"/>
          </a:xfrm>
          <a:prstGeom prst="rect">
            <a:avLst/>
          </a:prstGeom>
        </p:spPr>
      </p:pic>
      <p:sp>
        <p:nvSpPr>
          <p:cNvPr id="6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7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4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A78BFA"/>
                </a:solidFill>
                <a:latin typeface="Segoe UI" panose="020B0502040204020203"/>
              </a:rPr>
              <a:t>THE DATA</a:t>
            </a:r>
            <a:endParaRPr sz="1300" b="1" i="0" spc="160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Three openFDA sources, one immutable Bronze layer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2581579" cy="157276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6200" cy="15179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20695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2,687,675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FAERS drug-event reports, 2023-2024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7966" y="3428873"/>
            <a:ext cx="2581579" cy="157276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436" y="3429000"/>
            <a:ext cx="76200" cy="15179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679" y="3667125"/>
            <a:ext cx="20695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261,258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Drug labels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23863" y="1481328"/>
            <a:ext cx="2581579" cy="157276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23863" y="1508760"/>
            <a:ext cx="76200" cy="15179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6471" y="1737360"/>
            <a:ext cx="20695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136,520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NDC directory products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99860" y="3390773"/>
            <a:ext cx="2581579" cy="157276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99860" y="3390900"/>
            <a:ext cx="76200" cy="15179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16268" y="3629025"/>
            <a:ext cx="20695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64 GB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Bronze on local disk, immutable NDJSON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17" name="Picture 16" descr="pyth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513" y="5502783"/>
            <a:ext cx="310896" cy="310896"/>
          </a:xfrm>
          <a:prstGeom prst="rect">
            <a:avLst/>
          </a:prstGeom>
        </p:spPr>
      </p:pic>
      <p:pic>
        <p:nvPicPr>
          <p:cNvPr id="18" name="Picture 17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5502148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89761" y="5520055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Python ingestion in Docker · Bronze is never rewritten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7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8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5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A78BFA"/>
                </a:solidFill>
                <a:latin typeface="Segoe UI" panose="020B0502040204020203"/>
              </a:rPr>
              <a:t>SILVER · PYSPARK</a:t>
            </a:r>
            <a:endParaRPr sz="1300" b="1" i="0" spc="160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Flatten to a defined grain, then clean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5989320" cy="768096"/>
          </a:xfrm>
          <a:prstGeom prst="roundRect">
            <a:avLst>
              <a:gd name="adj" fmla="val 180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45336"/>
            <a:ext cx="76200" cy="7132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27631"/>
            <a:ext cx="5532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8FAFC"/>
                </a:solidFill>
                <a:latin typeface="Segoe UI Semibold" panose="020B0702040204020203"/>
              </a:rPr>
              <a:t>93,366,638</a:t>
            </a:r>
            <a:endParaRPr sz="21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Flattened atomic rows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432304"/>
            <a:ext cx="2971800" cy="768096"/>
          </a:xfrm>
          <a:prstGeom prst="roundRect">
            <a:avLst>
              <a:gd name="adj" fmla="val 180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2459736"/>
            <a:ext cx="76200" cy="7132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59" y="2542032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8FAFC"/>
                </a:solidFill>
                <a:latin typeface="Segoe UI Semibold" panose="020B0702040204020203"/>
              </a:rPr>
              <a:t>45,030,932</a:t>
            </a:r>
            <a:endParaRPr sz="21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Clean Silver rows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346704"/>
            <a:ext cx="2971800" cy="768096"/>
          </a:xfrm>
          <a:prstGeom prst="roundRect">
            <a:avLst>
              <a:gd name="adj" fmla="val 180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3374136"/>
            <a:ext cx="76200" cy="7132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3456432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8FAFC"/>
                </a:solidFill>
                <a:latin typeface="Segoe UI Semibold" panose="020B0702040204020203"/>
              </a:rPr>
              <a:t>431,760</a:t>
            </a:r>
            <a:endParaRPr sz="21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Quarantined, not deleted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261104"/>
            <a:ext cx="2971800" cy="768096"/>
          </a:xfrm>
          <a:prstGeom prst="roundRect">
            <a:avLst>
              <a:gd name="adj" fmla="val 180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4288536"/>
            <a:ext cx="76200" cy="71323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4370832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F8FAFC"/>
                </a:solidFill>
                <a:latin typeface="Segoe UI Semibold" panose="020B0702040204020203"/>
              </a:rPr>
              <a:t>0</a:t>
            </a:r>
            <a:endParaRPr sz="21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Null reactions remaining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5230368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The quarantined rows come mostly from 3 broken mega-reports.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03720" y="1517904"/>
            <a:ext cx="4739335" cy="160934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903720" y="1545336"/>
            <a:ext cx="76200" cy="15544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96328" y="1755648"/>
            <a:ext cx="4208983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8FAFC"/>
                </a:solidFill>
                <a:latin typeface="Segoe UI Semibold" panose="020B0702040204020203"/>
              </a:rPr>
              <a:t>The grain</a:t>
            </a:r>
            <a:endParaRPr sz="2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A7B0C0"/>
                </a:solidFill>
                <a:latin typeface="Segoe UI" panose="020B0502040204020203"/>
              </a:rPr>
              <a:t>One row = one case, one resolved drug, one drug characterisation, one reaction.</a:t>
            </a:r>
            <a:endParaRPr sz="15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903720" y="3273552"/>
            <a:ext cx="4739335" cy="1773936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903720" y="3300984"/>
            <a:ext cx="76200" cy="17190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96328" y="3511296"/>
            <a:ext cx="4208983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8FAFC"/>
                </a:solidFill>
                <a:latin typeface="Segoe UI Semibold" panose="020B0702040204020203"/>
              </a:rPr>
              <a:t>Why deduplicate after flattening</a:t>
            </a:r>
            <a:endParaRPr sz="20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6000"/>
              </a:lnSpc>
            </a:pPr>
            <a:r>
              <a:rPr sz="1500" b="0" i="0">
                <a:solidFill>
                  <a:srgbClr val="A7B0C0"/>
                </a:solidFill>
                <a:latin typeface="Segoe UI" panose="020B0502040204020203"/>
              </a:rPr>
              <a:t>A repeat only becomes visible at the atomic grain — one report lists the same drug on several dosage lines, and those must count once.</a:t>
            </a:r>
            <a:endParaRPr sz="15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24" name="Picture 23" descr="apachesp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5230368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16952" y="5257800"/>
            <a:ext cx="402610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Drug names resolved in Silver: 78.46%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6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7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6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38BDF8"/>
                </a:solidFill>
                <a:latin typeface="Segoe UI" panose="020B0502040204020203"/>
              </a:rPr>
              <a:t>WAREHOUSE · SNOWFLAKE + DBT</a:t>
            </a:r>
            <a:endParaRPr sz="1300" b="1" i="0" spc="160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Four layers, one definition of every metric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536192"/>
            <a:ext cx="2485567" cy="2907792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63624"/>
            <a:ext cx="76200" cy="2852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73936"/>
            <a:ext cx="1991791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38BDF8"/>
                </a:solidFill>
                <a:latin typeface="Segoe UI" panose="020B0502040204020203"/>
              </a:rPr>
              <a:t>STAGING</a:t>
            </a:r>
            <a:endParaRPr sz="1300" b="1" i="0" spc="140">
              <a:solidFill>
                <a:srgbClr val="38BDF8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Clean views over RAW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stg_drug_event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stg_drug_ndc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116503" y="285292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418255" y="1536192"/>
            <a:ext cx="2485567" cy="2907792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18255" y="1563624"/>
            <a:ext cx="76200" cy="2852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92575" y="1773936"/>
            <a:ext cx="1991791" cy="154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38BDF8"/>
                </a:solidFill>
                <a:latin typeface="Segoe UI" panose="020B0502040204020203"/>
              </a:rPr>
              <a:t>INTERMEDIATE</a:t>
            </a:r>
            <a:endParaRPr sz="1300" b="1" i="0" spc="140">
              <a:solidFill>
                <a:srgbClr val="38BDF8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Exact drug resolution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int_drug_resolution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86.7% of rows resolved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86119" y="285292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287871" y="1536192"/>
            <a:ext cx="2485567" cy="2907792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87871" y="1563624"/>
            <a:ext cx="76200" cy="2852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62191" y="1773936"/>
            <a:ext cx="1991791" cy="2195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38BDF8"/>
                </a:solidFill>
                <a:latin typeface="Segoe UI" panose="020B0502040204020203"/>
              </a:rPr>
              <a:t>MARTS</a:t>
            </a:r>
            <a:endParaRPr sz="1300" b="1" i="0" spc="140">
              <a:solidFill>
                <a:srgbClr val="38BDF8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Star schema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dim_drug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dim_reaction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dim_reporter 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dim_date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fct_report_drug_reaction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8855735" y="2852928"/>
            <a:ext cx="219456" cy="27432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157487" y="1536192"/>
            <a:ext cx="2485567" cy="2907792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157487" y="1563624"/>
            <a:ext cx="76200" cy="2852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31807" y="1773936"/>
            <a:ext cx="1991791" cy="17030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spc="140">
                <a:solidFill>
                  <a:srgbClr val="38BDF8"/>
                </a:solidFill>
                <a:latin typeface="Segoe UI" panose="020B0502040204020203"/>
              </a:rPr>
              <a:t>SIGNAL METRICS</a:t>
            </a:r>
            <a:endParaRPr sz="1300" b="1" i="0" spc="140">
              <a:solidFill>
                <a:srgbClr val="38BDF8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PRR / ROR per pair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fct_signal_metrics </a:t>
            </a:r>
            <a:r>
              <a:rPr lang="en-US" sz="1300" b="0" i="0">
                <a:solidFill>
                  <a:srgbClr val="A7B0C0"/>
                </a:solidFill>
                <a:latin typeface="Segoe UI" panose="020B0502040204020203"/>
              </a:rPr>
              <a:t>(</a:t>
            </a: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monthly</a:t>
            </a:r>
            <a:r>
              <a:rPr lang="en-US" sz="1300" b="0" i="0">
                <a:solidFill>
                  <a:srgbClr val="A7B0C0"/>
                </a:solidFill>
                <a:latin typeface="Segoe UI" panose="020B0502040204020203"/>
              </a:rPr>
              <a:t>)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sem_signal_metrics</a:t>
            </a:r>
            <a:r>
              <a:rPr lang="en-US" sz="1300" b="0" i="0">
                <a:solidFill>
                  <a:srgbClr val="A7B0C0"/>
                </a:solidFill>
                <a:latin typeface="Segoe UI" panose="020B0502040204020203"/>
              </a:rPr>
              <a:t>       </a:t>
            </a: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 </a:t>
            </a:r>
            <a:r>
              <a:rPr lang="en-US" sz="1300" b="0" i="0">
                <a:solidFill>
                  <a:srgbClr val="A7B0C0"/>
                </a:solidFill>
                <a:latin typeface="Segoe UI" panose="020B0502040204020203"/>
              </a:rPr>
              <a:t>(</a:t>
            </a:r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all-time</a:t>
            </a:r>
            <a:r>
              <a:rPr lang="en-US" sz="1300" b="0" i="0">
                <a:solidFill>
                  <a:srgbClr val="A7B0C0"/>
                </a:solidFill>
                <a:latin typeface="Segoe UI" panose="020B0502040204020203"/>
              </a:rPr>
              <a:t>)</a:t>
            </a:r>
            <a:endParaRPr lang="en-US"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20" name="Picture 19" descr="snowfla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827016"/>
            <a:ext cx="310896" cy="310896"/>
          </a:xfrm>
          <a:prstGeom prst="rect">
            <a:avLst/>
          </a:prstGeom>
        </p:spPr>
      </p:pic>
      <p:pic>
        <p:nvPicPr>
          <p:cNvPr id="21" name="Picture 20" descr="db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827651"/>
            <a:ext cx="310896" cy="31089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426464" y="4663440"/>
            <a:ext cx="10216591" cy="658368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81860" y="4828032"/>
            <a:ext cx="9704527" cy="230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Segoe UI" panose="020B0502040204020203"/>
              </a:rPr>
              <a:t>10 models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  ·  </a:t>
            </a:r>
            <a:r>
              <a:rPr sz="1500" b="1">
                <a:solidFill>
                  <a:srgbClr val="F8FAFC"/>
                </a:solidFill>
                <a:latin typeface="Segoe UI" panose="020B0502040204020203"/>
              </a:rPr>
              <a:t>42 tests passing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  ·  </a:t>
            </a:r>
            <a:r>
              <a:rPr sz="1500" b="1">
                <a:solidFill>
                  <a:srgbClr val="F8FAFC"/>
                </a:solidFill>
                <a:latin typeface="Segoe UI" panose="020B0502040204020203"/>
              </a:rPr>
              <a:t>dbt build PASS=53, WARN=0, ERROR=0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 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4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5" name="footer_number"/>
          <p:cNvSpPr txBox="1"/>
          <p:nvPr/>
        </p:nvSpPr>
        <p:spPr>
          <a:xfrm>
            <a:off x="8899855" y="60350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7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87880" y="2766060"/>
            <a:ext cx="7589520" cy="730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5000" b="1" i="0">
                <a:solidFill>
                  <a:srgbClr val="F8FAFC"/>
                </a:solidFill>
                <a:latin typeface="Segoe UI Semibold" panose="020B0702040204020203"/>
              </a:rPr>
              <a:t>Live Demo dbt</a:t>
            </a:r>
            <a:endParaRPr lang="en-US" sz="5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8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9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en-US" sz="1100" b="0" i="0">
                <a:solidFill>
                  <a:srgbClr val="A7B0C0"/>
                </a:solidFill>
                <a:latin typeface="Segoe UI" panose="020B0502040204020203"/>
              </a:rPr>
              <a:t>8</a:t>
            </a:r>
            <a:endParaRPr lang="en-US" alt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Picture 1" descr="dbt-dag-refine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9386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A78BFA"/>
                </a:solidFill>
                <a:latin typeface="Segoe UI" panose="020B0502040204020203"/>
              </a:rPr>
              <a:t>ORCHESTRATION · AIRFLOW 2.10.5</a:t>
            </a:r>
            <a:endParaRPr sz="1300" b="1" i="0" spc="160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One trigger runs the whole chain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94944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ingest_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ndc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1785708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959444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959444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05748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ingest_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faers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196513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370249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70249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16553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build_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silver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607318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781054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781054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27358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upload_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s3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6018123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191859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91859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38163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load_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raw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7428928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602664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602664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48968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dbt_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build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8839733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9013469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013469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59773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dbt_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test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10250538" y="1764792"/>
            <a:ext cx="155448" cy="219456"/>
          </a:xfrm>
          <a:prstGeom prst="rightArrow">
            <a:avLst/>
          </a:prstGeom>
          <a:noFill/>
          <a:ln w="15875">
            <a:solidFill>
              <a:srgbClr val="A78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424274" y="1481328"/>
            <a:ext cx="1218780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0424274" y="1508760"/>
            <a:ext cx="50800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570578" y="1627632"/>
            <a:ext cx="98103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publish_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metrics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7055" y="2492756"/>
            <a:ext cx="1109441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A7B0C0"/>
                </a:solidFill>
                <a:latin typeface="Segoe UI" panose="020B0502040204020203"/>
              </a:rPr>
              <a:t>Full 24-month run, 15 August 2026 — </a:t>
            </a:r>
            <a:r>
              <a:rPr sz="1700" b="1">
                <a:solidFill>
                  <a:srgbClr val="F8FAFC"/>
                </a:solidFill>
                <a:latin typeface="Segoe UI" panose="020B0502040204020203"/>
              </a:rPr>
              <a:t>success in 3 h 57 m 23 s, 8/8 green in dependency order</a:t>
            </a:r>
            <a:endParaRPr sz="1700" b="1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2959" y="303580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20">
                <a:solidFill>
                  <a:srgbClr val="A78BFA"/>
                </a:solidFill>
                <a:latin typeface="Segoe UI" panose="020B0502040204020203"/>
              </a:rPr>
              <a:t>TASK</a:t>
            </a:r>
            <a:endParaRPr sz="1300" b="1" i="0" spc="120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83280" y="303580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20">
                <a:solidFill>
                  <a:srgbClr val="A78BFA"/>
                </a:solidFill>
                <a:latin typeface="Segoe UI" panose="020B0502040204020203"/>
              </a:rPr>
              <a:t>DURATION</a:t>
            </a:r>
            <a:endParaRPr sz="1300" b="1" i="0" spc="120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69279" y="30358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20">
                <a:solidFill>
                  <a:srgbClr val="A78BFA"/>
                </a:solidFill>
                <a:latin typeface="Segoe UI" panose="020B0502040204020203"/>
              </a:rPr>
              <a:t>RESULT</a:t>
            </a:r>
            <a:endParaRPr sz="1300" b="1" i="0" spc="120">
              <a:solidFill>
                <a:srgbClr val="A78BFA"/>
              </a:solidFill>
              <a:latin typeface="Segoe UI" panose="020B0502040204020203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3310127"/>
            <a:ext cx="11094415" cy="12700"/>
          </a:xfrm>
          <a:prstGeom prst="rect">
            <a:avLst/>
          </a:prstGeom>
          <a:solidFill>
            <a:srgbClr val="26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59" y="340156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build_silver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83280" y="340156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3 h 47 m 27 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69279" y="3401568"/>
            <a:ext cx="58823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24 months of Silver rebuilt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59" y="368960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upload_s3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83280" y="368960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5 m 28 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69279" y="3689604"/>
            <a:ext cx="58823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486 objects mirrored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2959" y="397764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load_raw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83280" y="39776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2 m 43 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69279" y="3977640"/>
            <a:ext cx="58823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45,030,932 rows into RAW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2959" y="42656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dbt_build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383280" y="426567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1 m 08 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669279" y="4265676"/>
            <a:ext cx="58823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PASS=53, WARN=0, ERROR=0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22959" y="455371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dbt_test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383280" y="45537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9.7 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669279" y="4553712"/>
            <a:ext cx="58823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PASS=42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2959" y="4841748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Segoe UI" panose="020B0502040204020203"/>
              </a:rPr>
              <a:t>publish_metrics</a:t>
            </a:r>
            <a:endParaRPr sz="1300" b="1" i="0">
              <a:solidFill>
                <a:srgbClr val="F8FAFC"/>
              </a:solidFill>
              <a:latin typeface="Segoe UI" panose="020B05020402040202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83280" y="484174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15.7 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669279" y="4841748"/>
            <a:ext cx="588233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headline numbers logged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60" name="Picture 59" descr="apacheair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376799"/>
            <a:ext cx="274320" cy="274320"/>
          </a:xfrm>
          <a:prstGeom prst="rect">
            <a:avLst/>
          </a:prstGeom>
        </p:spPr>
      </p:pic>
      <p:pic>
        <p:nvPicPr>
          <p:cNvPr id="61" name="Picture 60" descr="do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376799"/>
            <a:ext cx="274320" cy="274320"/>
          </a:xfrm>
          <a:prstGeom prst="rect">
            <a:avLst/>
          </a:prstGeom>
        </p:spPr>
      </p:pic>
      <p:pic>
        <p:nvPicPr>
          <p:cNvPr id="62" name="Picture 61" descr="apache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5376799"/>
            <a:ext cx="274320" cy="274320"/>
          </a:xfrm>
          <a:prstGeom prst="rect">
            <a:avLst/>
          </a:prstGeom>
        </p:spPr>
      </p:pic>
      <p:pic>
        <p:nvPicPr>
          <p:cNvPr id="63" name="Picture 62" descr="db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7" y="5376799"/>
            <a:ext cx="274320" cy="2743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084831" y="5248656"/>
            <a:ext cx="9558223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3 Docker stacks, 8 containers. Airflow triggers Spark and dbt in their own containers — it never processes the 45M rows itself.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65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66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en-US" sz="1100" b="0" i="0">
                <a:solidFill>
                  <a:srgbClr val="A7B0C0"/>
                </a:solidFill>
                <a:latin typeface="Segoe UI" panose="020B0502040204020203"/>
              </a:rPr>
              <a:t>9</a:t>
            </a:r>
            <a:endParaRPr lang="en-US" alt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38BDF8"/>
                </a:solidFill>
                <a:latin typeface="Segoe UI" panose="020B0502040204020203"/>
              </a:rPr>
              <a:t>THE METRIC</a:t>
            </a:r>
            <a:endParaRPr sz="1300" b="1" i="0" spc="160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Disproportionality from four counts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4600" y="184708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 panose="020B0502040204020203"/>
              </a:rPr>
              <a:t>This reaction</a:t>
            </a:r>
            <a:endParaRPr sz="1400" b="1" i="0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799" y="184708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  <a:latin typeface="Segoe UI" panose="020B0502040204020203"/>
              </a:rPr>
              <a:t>Other reactions</a:t>
            </a:r>
            <a:endParaRPr sz="1400" b="1" i="0">
              <a:solidFill>
                <a:srgbClr val="38BDF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 i="0">
                <a:solidFill>
                  <a:srgbClr val="A7B0C0"/>
                </a:solidFill>
                <a:latin typeface="Segoe UI" panose="020B0502040204020203"/>
              </a:rPr>
              <a:t>This drug</a:t>
            </a:r>
            <a:endParaRPr sz="15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23160" y="2286000"/>
            <a:ext cx="1490472" cy="978407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423160" y="2313432"/>
            <a:ext cx="76200" cy="923543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32888" y="2487168"/>
            <a:ext cx="12710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8A1F"/>
                </a:solidFill>
                <a:latin typeface="Segoe UI Semibold" panose="020B0702040204020203"/>
              </a:rPr>
              <a:t>a</a:t>
            </a:r>
            <a:endParaRPr sz="3000" b="1" i="0">
              <a:solidFill>
                <a:srgbClr val="FF8A1F"/>
              </a:solidFill>
              <a:latin typeface="Segoe UI Semibold" panose="020B0702040204020203"/>
            </a:endParaRPr>
          </a:p>
          <a:p>
            <a:pPr algn="ctr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5,571 cases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23360" y="2286000"/>
            <a:ext cx="1490472" cy="978407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133088" y="2487168"/>
            <a:ext cx="12710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b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758184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0" i="0">
                <a:solidFill>
                  <a:srgbClr val="A7B0C0"/>
                </a:solidFill>
                <a:latin typeface="Segoe UI" panose="020B0502040204020203"/>
              </a:rPr>
              <a:t>All other drugs</a:t>
            </a:r>
            <a:endParaRPr sz="15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3160" y="3374136"/>
            <a:ext cx="1490472" cy="978407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3575304"/>
            <a:ext cx="12710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c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023360" y="3374136"/>
            <a:ext cx="1490472" cy="978407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33088" y="3575304"/>
            <a:ext cx="1271016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Segoe UI Semibold" panose="020B0702040204020203"/>
              </a:rPr>
              <a:t>d</a:t>
            </a:r>
            <a:endParaRPr sz="3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590288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Counted over every report in the warehouse, for one drug and one reaction.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89320" y="1627632"/>
            <a:ext cx="5653735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89320" y="1655064"/>
            <a:ext cx="76200" cy="7315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81928" y="1773936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PRR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( a / (a+b) )  ÷  ( c / (c+d) )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46920" y="1828800"/>
            <a:ext cx="1703527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400" b="1" i="0">
                <a:solidFill>
                  <a:srgbClr val="FF8A1F"/>
                </a:solidFill>
                <a:latin typeface="Segoe UI Semibold" panose="020B0702040204020203"/>
              </a:rPr>
              <a:t>35.94</a:t>
            </a:r>
            <a:endParaRPr sz="2400" b="1" i="0">
              <a:solidFill>
                <a:srgbClr val="FF8A1F"/>
              </a:solidFill>
              <a:latin typeface="Segoe UI Semibold" panose="020B07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989320" y="2523744"/>
            <a:ext cx="5653735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89320" y="2551175"/>
            <a:ext cx="76200" cy="7315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81928" y="267004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ROR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( a × d )  ÷  ( b × c )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46920" y="2724912"/>
            <a:ext cx="1703527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400" b="1" i="0">
                <a:solidFill>
                  <a:srgbClr val="FF8A1F"/>
                </a:solidFill>
                <a:latin typeface="Segoe UI Semibold" panose="020B0702040204020203"/>
              </a:rPr>
              <a:t>46.76</a:t>
            </a:r>
            <a:endParaRPr sz="2400" b="1" i="0">
              <a:solidFill>
                <a:srgbClr val="FF8A1F"/>
              </a:solidFill>
              <a:latin typeface="Segoe UI Semibold" panose="020B07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89320" y="3419856"/>
            <a:ext cx="5653735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989320" y="3447287"/>
            <a:ext cx="76200" cy="7315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81928" y="35661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ROR-CI lower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pessimistic edge of the ROR interval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46920" y="3621024"/>
            <a:ext cx="1703527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400" b="1" i="0">
                <a:solidFill>
                  <a:srgbClr val="FF8A1F"/>
                </a:solidFill>
                <a:latin typeface="Segoe UI Semibold" panose="020B0702040204020203"/>
              </a:rPr>
              <a:t>45.21</a:t>
            </a:r>
            <a:endParaRPr sz="2400" b="1" i="0">
              <a:solidFill>
                <a:srgbClr val="FF8A1F"/>
              </a:solidFill>
              <a:latin typeface="Segoe UI Semibold" panose="020B07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989320" y="4315968"/>
            <a:ext cx="5653735" cy="786384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989320" y="4343400"/>
            <a:ext cx="76200" cy="7315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81928" y="446227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chi-square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/>
            <a:r>
              <a:rPr sz="1300" b="0" i="0">
                <a:solidFill>
                  <a:srgbClr val="A7B0C0"/>
                </a:solidFill>
                <a:latin typeface="Segoe UI" panose="020B0502040204020203"/>
              </a:rPr>
              <a:t>Yates-corrected, from the same four counts</a:t>
            </a:r>
            <a:endParaRPr sz="13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6920" y="4517136"/>
            <a:ext cx="1703527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400" b="1" i="0">
                <a:solidFill>
                  <a:srgbClr val="FF8A1F"/>
                </a:solidFill>
                <a:latin typeface="Segoe UI Semibold" panose="020B0702040204020203"/>
              </a:rPr>
              <a:t>142,896</a:t>
            </a:r>
            <a:endParaRPr sz="2400" b="1" i="0">
              <a:solidFill>
                <a:srgbClr val="FF8A1F"/>
              </a:solidFill>
              <a:latin typeface="Segoe UI Semibold" panose="020B07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89320" y="5266943"/>
            <a:ext cx="56537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Computed once in the dbt macros. The dashboard reads them and computes nothing, so one definition runs from warehouse to screen.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36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37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en-US" sz="1100" b="0" i="0">
                <a:solidFill>
                  <a:srgbClr val="A7B0C0"/>
                </a:solidFill>
                <a:latin typeface="Segoe UI" panose="020B0502040204020203"/>
              </a:rPr>
              <a:t>10</a:t>
            </a:r>
            <a:endParaRPr lang="en-US" alt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87880" y="2766060"/>
            <a:ext cx="7589520" cy="730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5000" b="1" i="0">
                <a:solidFill>
                  <a:srgbClr val="F8FAFC"/>
                </a:solidFill>
                <a:latin typeface="Segoe UI Semibold" panose="020B0702040204020203"/>
              </a:rPr>
              <a:t>Live Demo </a:t>
            </a:r>
            <a:r>
              <a:rPr lang="en-US" altLang="en-US" sz="5000" b="1" i="0">
                <a:solidFill>
                  <a:srgbClr val="F8FAFC"/>
                </a:solidFill>
                <a:latin typeface="Segoe UI Semibold" panose="020B0702040204020203"/>
              </a:rPr>
              <a:t>Streamlit</a:t>
            </a:r>
            <a:endParaRPr lang="en-US" altLang="en-US" sz="5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8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9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altLang="en-US"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r>
              <a:rPr lang="en-US" altLang="en-US"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endParaRPr lang="en-US" alt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2DD4BF"/>
                </a:solidFill>
                <a:latin typeface="Segoe UI" panose="020B0502040204020203"/>
              </a:rPr>
              <a:t>SERVING · STREAMLIT</a:t>
            </a:r>
            <a:endParaRPr sz="1300" b="1" i="0" spc="160">
              <a:solidFill>
                <a:srgbClr val="2DD4BF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Hosted in Snowflake — the demo is a URL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pic>
        <p:nvPicPr>
          <p:cNvPr id="5" name="Picture 4" descr="streaml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687" y="1371600"/>
            <a:ext cx="274320" cy="274320"/>
          </a:xfrm>
          <a:prstGeom prst="rect">
            <a:avLst/>
          </a:prstGeom>
        </p:spPr>
      </p:pic>
      <p:pic>
        <p:nvPicPr>
          <p:cNvPr id="6" name="Picture 5" descr="snowfl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0447" y="1371600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389888"/>
            <a:ext cx="102714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Runs as DE_CAPSTONE_DBT_ROLE and computes nothing — every metric comes from the dbt macros.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8" name="Picture 7" descr="dashboard_1_sign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" y="1719072"/>
            <a:ext cx="5166360" cy="3246649"/>
          </a:xfrm>
          <a:prstGeom prst="rect">
            <a:avLst/>
          </a:prstGeom>
        </p:spPr>
      </p:pic>
      <p:sp>
        <p:nvSpPr>
          <p:cNvPr id="9" name="imgborder"/>
          <p:cNvSpPr/>
          <p:nvPr/>
        </p:nvSpPr>
        <p:spPr>
          <a:xfrm>
            <a:off x="746607" y="1719072"/>
            <a:ext cx="5166360" cy="3246649"/>
          </a:xfrm>
          <a:prstGeom prst="rect">
            <a:avLst/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ashboard_3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1719072"/>
            <a:ext cx="5166360" cy="3368885"/>
          </a:xfrm>
          <a:prstGeom prst="rect">
            <a:avLst/>
          </a:prstGeom>
        </p:spPr>
      </p:pic>
      <p:sp>
        <p:nvSpPr>
          <p:cNvPr id="11" name="imgborder"/>
          <p:cNvSpPr/>
          <p:nvPr/>
        </p:nvSpPr>
        <p:spPr>
          <a:xfrm>
            <a:off x="6278727" y="1719072"/>
            <a:ext cx="5166360" cy="3368885"/>
          </a:xfrm>
          <a:prstGeom prst="rect">
            <a:avLst/>
          </a:prstGeom>
          <a:noFill/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6607" y="5234261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Segoe UI" panose="020B0502040204020203"/>
              </a:rPr>
              <a:t>Ranked candidates for one drug.  </a:t>
            </a:r>
            <a:r>
              <a:rPr sz="1400" b="0">
                <a:solidFill>
                  <a:srgbClr val="A7B0C0"/>
                </a:solidFill>
                <a:latin typeface="Segoe UI" panose="020B0502040204020203"/>
              </a:rPr>
              <a:t>Red bars are strict signals, blue bars are not flagged — the colour is a label, not a score.</a:t>
            </a:r>
            <a:endParaRPr sz="14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78727" y="5234261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FAFC"/>
                </a:solidFill>
                <a:latin typeface="Segoe UI" panose="020B0502040204020203"/>
              </a:rPr>
              <a:t>Present in all 24 months.  </a:t>
            </a:r>
            <a:r>
              <a:rPr sz="1400" b="0">
                <a:solidFill>
                  <a:srgbClr val="A7B0C0"/>
                </a:solidFill>
                <a:latin typeface="Segoe UI" panose="020B0502040204020203"/>
              </a:rPr>
              <a:t>December 2024 alone gives PRR 34.78 on 222 cases, so the signal is not one reporting spike.</a:t>
            </a:r>
            <a:endParaRPr sz="14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5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r>
              <a:rPr lang="en-US"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endParaRPr 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5" name="Picture 4" descr="Screenshot 2026-08-23 1904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1545" y="762000"/>
            <a:ext cx="7787640" cy="45491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94A3B8"/>
                </a:solidFill>
                <a:latin typeface="Segoe UI" panose="020B0502040204020203"/>
              </a:rPr>
              <a:t>CI/CD · GITHUB ACTIONS</a:t>
            </a:r>
            <a:endParaRPr sz="1300" b="1" i="0" spc="160">
              <a:solidFill>
                <a:srgbClr val="94A3B8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Four workflows, eight checks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99616"/>
            <a:ext cx="2581579" cy="21031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27048"/>
            <a:ext cx="76200" cy="204825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2087803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ci.yml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ruff and dbt parse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python syntax 3.11 + 3.12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secret scan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pytest, 21 tests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86251" y="1499616"/>
            <a:ext cx="2581579" cy="21031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386251" y="1527048"/>
            <a:ext cx="76200" cy="204825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60571" y="1719072"/>
            <a:ext cx="2087803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dbt-ci.yml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dbt build into DBT_CI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PASS=53 in 1 m 17 s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clean machine, same result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23863" y="1499616"/>
            <a:ext cx="2581579" cy="21031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23863" y="1527048"/>
            <a:ext cx="76200" cy="204825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8183" y="1719072"/>
            <a:ext cx="2087803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s3-contract.yml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486 objects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3,913,635,942 bytes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read-only, cannot alter it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061475" y="1499616"/>
            <a:ext cx="2581579" cy="21031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61475" y="1527048"/>
            <a:ext cx="76200" cy="204825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35795" y="1719072"/>
            <a:ext cx="2087803" cy="1773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terraform.yml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plan on every pull request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manual apply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94A3B8"/>
                </a:solidFill>
                <a:latin typeface="Segoe UI" panose="020B0502040204020203"/>
              </a:rPr>
              <a:t>•  </a:t>
            </a:r>
            <a:r>
              <a:rPr sz="1300" b="0">
                <a:solidFill>
                  <a:srgbClr val="A7B0C0"/>
                </a:solidFill>
                <a:latin typeface="Segoe UI" panose="020B0502040204020203"/>
              </a:rPr>
              <a:t>imported, never recreated</a:t>
            </a:r>
            <a:endParaRPr sz="13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767328"/>
            <a:ext cx="5382615" cy="129844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76200" cy="12435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7" y="3968496"/>
            <a:ext cx="4852263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Secret scan went red in 7 seconds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A planted SNOWFLAKE_PASSWORD failed the build, printing only the file and the line — never the value.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0439" y="3767328"/>
            <a:ext cx="5382615" cy="1298448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60439" y="3794760"/>
            <a:ext cx="76200" cy="124358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68496"/>
            <a:ext cx="4852263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F8FAFC"/>
                </a:solidFill>
                <a:latin typeface="Segoe UI Semibold" panose="020B0702040204020203"/>
              </a:rPr>
              <a:t>S3 contract went red on 2,698 bytes</a:t>
            </a:r>
            <a:endParaRPr sz="17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4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The object count matched exactly, which is why the check asserts both numbers and not just the count.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23" name="Picture 22" descr="githubac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48656"/>
            <a:ext cx="274320" cy="274320"/>
          </a:xfrm>
          <a:prstGeom prst="rect">
            <a:avLst/>
          </a:prstGeom>
        </p:spPr>
      </p:pic>
      <p:pic>
        <p:nvPicPr>
          <p:cNvPr id="24" name="Picture 23" descr="terra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48656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98448" y="5230368"/>
            <a:ext cx="10344607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A7B0C0"/>
                </a:solidFill>
                <a:latin typeface="Segoe UI" panose="020B0502040204020203"/>
              </a:rPr>
              <a:t>A green tick shows the workflow ran. Each gate was made to refuse something on purpose, which is what shows it works.</a:t>
            </a:r>
            <a:endParaRPr sz="15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6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7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r>
              <a:rPr lang="en-US" sz="1100" b="0" i="0">
                <a:solidFill>
                  <a:srgbClr val="A7B0C0"/>
                </a:solidFill>
                <a:latin typeface="Segoe UI" panose="020B0502040204020203"/>
              </a:rPr>
              <a:t>2</a:t>
            </a:r>
            <a:endParaRPr 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FF8A1F"/>
                </a:solidFill>
                <a:latin typeface="Segoe UI" panose="020B0502040204020203"/>
              </a:rPr>
              <a:t>COST</a:t>
            </a:r>
            <a:endParaRPr sz="1300" b="1" i="0" spc="160">
              <a:solidFill>
                <a:srgbClr val="FF8A1F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What it actually cost to build and run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03066" cy="2139696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6200" cy="2084831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1737360"/>
            <a:ext cx="293613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600" b="1" i="0">
                <a:solidFill>
                  <a:srgbClr val="F8FAFC"/>
                </a:solidFill>
                <a:latin typeface="Segoe UI Semibold" panose="020B0702040204020203"/>
              </a:rPr>
              <a:t>$0.25</a:t>
            </a:r>
            <a:endParaRPr sz="56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Money actually paid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AWS S3, eu-central-1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4314" y="1481328"/>
            <a:ext cx="3503066" cy="2139696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4314" y="1508760"/>
            <a:ext cx="76200" cy="2084831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55210" y="1737360"/>
            <a:ext cx="293613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600" b="1" i="0">
                <a:solidFill>
                  <a:srgbClr val="F8FAFC"/>
                </a:solidFill>
                <a:latin typeface="Segoe UI Semibold" panose="020B0702040204020203"/>
              </a:rPr>
              <a:t>$42</a:t>
            </a:r>
            <a:endParaRPr sz="56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Snowflake credit consumed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of a $400 free trial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39988" y="1481328"/>
            <a:ext cx="3503066" cy="2139696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39988" y="1508760"/>
            <a:ext cx="76200" cy="2084831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0884" y="1737360"/>
            <a:ext cx="293613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600" b="1" i="0">
                <a:solidFill>
                  <a:srgbClr val="F8FAFC"/>
                </a:solidFill>
                <a:latin typeface="Segoe UI Semibold" panose="020B0702040204020203"/>
              </a:rPr>
              <a:t>$0</a:t>
            </a:r>
            <a:endParaRPr sz="5600" b="1" i="0">
              <a:solidFill>
                <a:srgbClr val="F8FAFC"/>
              </a:solidFill>
              <a:latin typeface="Segoe UI Semibold" panose="020B0702040204020203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Segoe UI" panose="020B0502040204020203"/>
              </a:rPr>
              <a:t>dbt, Airflow, Spark, Docker</a:t>
            </a:r>
            <a:endParaRPr sz="1600" b="1" i="0">
              <a:solidFill>
                <a:srgbClr val="F8FAFC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7B0C0"/>
                </a:solidFill>
                <a:latin typeface="Segoe UI" panose="020B0502040204020203"/>
              </a:rPr>
              <a:t>Terraform and GitHub Actions</a:t>
            </a:r>
            <a:endParaRPr sz="14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14" name="Picture 13" descr="amazons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30752"/>
            <a:ext cx="274320" cy="274320"/>
          </a:xfrm>
          <a:prstGeom prst="rect">
            <a:avLst/>
          </a:prstGeom>
        </p:spPr>
      </p:pic>
      <p:pic>
        <p:nvPicPr>
          <p:cNvPr id="15" name="Picture 14" descr="snowfl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30752"/>
            <a:ext cx="274320" cy="2743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4133087"/>
            <a:ext cx="11094415" cy="164592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6200" cy="1591056"/>
          </a:xfrm>
          <a:prstGeom prst="rect">
            <a:avLst/>
          </a:prstGeom>
          <a:solidFill>
            <a:srgbClr val="FF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" y="4352544"/>
            <a:ext cx="10527487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160">
                <a:solidFill>
                  <a:srgbClr val="FF8A1F"/>
                </a:solidFill>
                <a:latin typeface="Segoe UI" panose="020B0502040204020203"/>
              </a:rPr>
              <a:t>WHERE THE MONEY WOULD GO AT 10×</a:t>
            </a:r>
            <a:endParaRPr sz="1300" b="1" i="0" spc="160">
              <a:solidFill>
                <a:srgbClr val="FF8A1F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FF8A1F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Only about 8 GB is in the cloud — the 64 GB of Bronze never left the laptop.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FF8A1F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At 10× the data, S3 would still cost under $1 per month.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FF8A1F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The ceiling is laptop disk and Spark runtime, not money.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9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20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r>
              <a:rPr lang="en-US" sz="1100" b="0" i="0">
                <a:solidFill>
                  <a:srgbClr val="A7B0C0"/>
                </a:solidFill>
                <a:latin typeface="Segoe UI" panose="020B0502040204020203"/>
              </a:rPr>
              <a:t>3</a:t>
            </a:r>
            <a:endParaRPr 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opaccent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spc="160">
                <a:solidFill>
                  <a:srgbClr val="22C55E"/>
                </a:solidFill>
                <a:latin typeface="Segoe UI" panose="020B0502040204020203"/>
              </a:rPr>
              <a:t>CLOSING</a:t>
            </a:r>
            <a:endParaRPr sz="1300" b="1" i="0" spc="160">
              <a:solidFill>
                <a:srgbClr val="22C55E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9441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1" i="0">
                <a:solidFill>
                  <a:srgbClr val="F8FAFC"/>
                </a:solidFill>
                <a:latin typeface="Segoe UI Semibold" panose="020B0702040204020203"/>
              </a:rPr>
              <a:t>What this project delivers</a:t>
            </a:r>
            <a:endParaRPr sz="32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03066" cy="265176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76200" cy="25968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1737360"/>
            <a:ext cx="293613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 spc="160">
                <a:solidFill>
                  <a:srgbClr val="22C55E"/>
                </a:solidFill>
                <a:latin typeface="Segoe UI" panose="020B0502040204020203"/>
              </a:rPr>
              <a:t>BUILT</a:t>
            </a:r>
            <a:endParaRPr sz="1300" b="1" i="0" spc="160">
              <a:solidFill>
                <a:srgbClr val="22C55E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An 8-task Airflow DAG, run end to end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PySpark Silver at a defined grain, 45,030,932 rows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A dbt star schema, 10 models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4314" y="1481328"/>
            <a:ext cx="3503066" cy="265176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44314" y="1508760"/>
            <a:ext cx="76200" cy="25968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55210" y="1737360"/>
            <a:ext cx="293613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 spc="160">
                <a:solidFill>
                  <a:srgbClr val="22C55E"/>
                </a:solidFill>
                <a:latin typeface="Segoe UI" panose="020B0502040204020203"/>
              </a:rPr>
              <a:t>VERIFIED</a:t>
            </a:r>
            <a:endParaRPr sz="1300" b="1" i="0" spc="160">
              <a:solidFill>
                <a:srgbClr val="22C55E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42 dbt tests and 21 Python tests passing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4 workflows, 8 checks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Every gate proven by making it fail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39988" y="1481328"/>
            <a:ext cx="3503066" cy="2651760"/>
          </a:xfrm>
          <a:prstGeom prst="roundRect">
            <a:avLst>
              <a:gd name="adj" fmla="val 5500"/>
            </a:avLst>
          </a:prstGeom>
          <a:solidFill>
            <a:srgbClr val="111827"/>
          </a:solidFill>
          <a:ln w="12700">
            <a:solidFill>
              <a:srgbClr val="263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139988" y="1508760"/>
            <a:ext cx="76200" cy="25968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50884" y="1737360"/>
            <a:ext cx="2936138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 i="0" spc="160">
                <a:solidFill>
                  <a:srgbClr val="22C55E"/>
                </a:solidFill>
                <a:latin typeface="Segoe UI" panose="020B0502040204020203"/>
              </a:rPr>
              <a:t>DELIVERED</a:t>
            </a:r>
            <a:endParaRPr sz="1300" b="1" i="0" spc="160">
              <a:solidFill>
                <a:srgbClr val="22C55E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1,240,645 drug-reaction pairs scored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315,270 candidate signals ranked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0">
                <a:solidFill>
                  <a:srgbClr val="22C55E"/>
                </a:solidFill>
                <a:latin typeface="Segoe UI" panose="020B0502040204020203"/>
              </a:rPr>
              <a:t>—  </a:t>
            </a:r>
            <a:r>
              <a:rPr sz="1500" b="0">
                <a:solidFill>
                  <a:srgbClr val="A7B0C0"/>
                </a:solidFill>
                <a:latin typeface="Segoe UI" panose="020B0502040204020203"/>
              </a:rPr>
              <a:t>A hosted dashboard built for triage</a:t>
            </a:r>
            <a:endParaRPr sz="1500" b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90007" y="448056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4718304"/>
            <a:ext cx="11094415" cy="615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F8FAFC"/>
                </a:solidFill>
                <a:latin typeface="Segoe UI Semibold" panose="020B0702040204020203"/>
              </a:rPr>
              <a:t>Thank you </a:t>
            </a:r>
            <a:endParaRPr sz="4000" b="1" i="0">
              <a:solidFill>
                <a:srgbClr val="F8FAFC"/>
              </a:solidFill>
              <a:latin typeface="Segoe UI Semibold" panose="020B0702040204020203"/>
            </a:endParaRPr>
          </a:p>
        </p:txBody>
      </p:sp>
      <p:sp>
        <p:nvSpPr>
          <p:cNvPr id="16" name="footer_label"/>
          <p:cNvSpPr txBox="1"/>
          <p:nvPr/>
        </p:nvSpPr>
        <p:spPr>
          <a:xfrm>
            <a:off x="548640" y="603504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OpenFDA Drug Safety Signal Pipeline</a:t>
            </a:r>
            <a:endParaRPr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sp>
        <p:nvSpPr>
          <p:cNvPr id="17" name="footer_number"/>
          <p:cNvSpPr txBox="1"/>
          <p:nvPr/>
        </p:nvSpPr>
        <p:spPr>
          <a:xfrm>
            <a:off x="8899855" y="6035040"/>
            <a:ext cx="2743200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A7B0C0"/>
                </a:solidFill>
                <a:latin typeface="Segoe UI" panose="020B0502040204020203"/>
              </a:rPr>
              <a:t>1</a:t>
            </a:r>
            <a:r>
              <a:rPr lang="en-US" sz="1100" b="0" i="0">
                <a:solidFill>
                  <a:srgbClr val="A7B0C0"/>
                </a:solidFill>
                <a:latin typeface="Segoe UI" panose="020B0502040204020203"/>
              </a:rPr>
              <a:t>4</a:t>
            </a:r>
            <a:endParaRPr lang="en-US" sz="1100" b="0" i="0">
              <a:solidFill>
                <a:srgbClr val="A7B0C0"/>
              </a:solidFill>
              <a:latin typeface="Segoe UI" panose="020B0502040204020203"/>
            </a:endParaRPr>
          </a:p>
        </p:txBody>
      </p:sp>
      <p:pic>
        <p:nvPicPr>
          <p:cNvPr id="18" name="Picture 17" descr="linkedin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4434840"/>
            <a:ext cx="960120" cy="960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56915" y="5449823"/>
            <a:ext cx="14630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 Semibold" panose="020B0702040204020203"/>
              </a:rPr>
              <a:t>LinkedIn</a:t>
            </a:r>
            <a:endParaRPr sz="1200" b="1">
              <a:solidFill>
                <a:srgbClr val="F8FAFC"/>
              </a:solidFill>
              <a:latin typeface="Segoe UI Semibold" panose="020B0702040204020203"/>
            </a:endParaRPr>
          </a:p>
        </p:txBody>
      </p:sp>
      <p:pic>
        <p:nvPicPr>
          <p:cNvPr id="20" name="Picture 19" descr="github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4434840"/>
            <a:ext cx="96012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68996" y="5449823"/>
            <a:ext cx="146304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Segoe UI Semibold" panose="020B0702040204020203"/>
              </a:rPr>
              <a:t>GitHub</a:t>
            </a:r>
            <a:endParaRPr sz="1200" b="1">
              <a:solidFill>
                <a:srgbClr val="F8FAFC"/>
              </a:solidFill>
              <a:latin typeface="Segoe UI Semibold" panose="020B07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5996</Words>
  <Application>WPS Presentation</Application>
  <PresentationFormat>On-screen Show (4:3)</PresentationFormat>
  <Paragraphs>395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Segoe UI Semibold</vt:lpstr>
      <vt:lpstr>Segoe UI</vt:lpstr>
      <vt:lpstr>Microsoft YaHei</vt:lpstr>
      <vt:lpstr>Arial Unicode MS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nasta</cp:lastModifiedBy>
  <cp:revision>30</cp:revision>
  <dcterms:created xsi:type="dcterms:W3CDTF">2013-01-27T09:14:00Z</dcterms:created>
  <dcterms:modified xsi:type="dcterms:W3CDTF">2026-09-01T15:11:09Z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4342F96C1855414FB118A8C8D9FB31AB_13</vt:lpwstr>
  </property>
</Properties>
</file>