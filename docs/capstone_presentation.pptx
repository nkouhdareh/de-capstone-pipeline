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domain rather than the tools: this is pharmacovigilance, finding drug side-effect signals in the FDA's public adverse-event reports. Say that everything in the deck was actually run end to end, not designed on paper. Mention that every figure comes from one 24-month dataset, so the numbers reconcile with each other. Keep this slide to about fifteen seconds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from the analyst's side, not the engineer's. The three sources arrive in different shapes and share no drug identifier, so nothing joins without deliberate work. Say the drug-name problem is the genuinely hard one, because deciding whether two names are the same drug is a medical question rather than a string-matching one. Close by pointing out that the number of pairs is what makes manual review impossible.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question out loud before showing any architecture, so the audience knows what the pipeline is for. Stress the phrase ranked candidate list rather than alerts, because that framing is what the honest-findings slide pays off later. Name the user as a drug-safety analyst who triages, and say they need the supporting counts visible next to every ratio. Treat this slide as the contract you are making with the room.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boxes left to right with one short sentence each, and do not read the labels aloud. Make the two structural points that matter: only two of the six stages are actually in the cloud, and Airflow sits above the flow because it triggers Spark and dbt in their own containers rather than moving data itself. Point at the dashed arrows and say they are control, not data. Then stop, because this diagram should take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sources are public, downloaded once, and stored exactly as received so Silver can always be rebuilt without calling the API again. Explain that Bronze is large because it is raw and nested, and that keeping it on local disk is the reason the cloud bill stayed near zero. Then explain the funnel: the row count grows when you flatten drugs against reactions, and shrinks again when repeated dosage lines collapse. Warn them the next slide explains why that order is deliberate.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grain, because every number later in the deck depends on it. Explain that quarantine means rows are set aside with a recorded reason rather than silently dropped, and that almost all of them come from three anomalous reports with thousands of drugs and no reaction term. Point out that zero null reactions is a verified guardrail, not a hope. If asked why Spark, say it was the nesting and the fan-out, not the raw file size.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layers exist so each one has a single job and can be rebuilt on its own. The intermediate layer is the interesting one: resolution runs once per distinct drug signature instead of once per row, and it only accepts exact matches, so an uncertain drug stays unknown rather than being guessed wrong. Say the two resolution percentages answer different questions, and the row-level one is what matters for the statistics. Finish on the tests, because they are what make the numbers repeatable.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two-by-two table in the air before you explain any formula, because every metric here is the same four counts combined differently. Say PRR compares shares and ROR compares odds, and that having both matters because different regulators prefer different ones and a sharp disagreement between them would itself be a warning. Explain the confidence-interval lower bound as the pessimistic reading of the same evidence. Stress that these measure reporting, not risk, because there is no denominator of treated patients anywhere in this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headline first and only then the evidence beside it. Say this pairing is already known to medicine, which is exactly why it is a good acceptance test: a method that misses it is broken. Point out that the monthly counts add back to the all-time total, which proves the date join works rather than merely looking tidy. Then say the next slide is about why you do not trust the top of this ranking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them this is the slide you would most want a reviewer to see, because it shows the limits of your own output. Explain that the four patterns are not failures of the pipeline; they are properties of spontaneous reporting data, and no threshold removes them. Use the not-flagged example to answer the obvious challenge that this is just counting: a reaction with more than a thousand cases sits below the line while a rarer one clears it. Land on the conclusion that disproportionality is a screening tool and the deliverable is a ranked list for expert triage.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architectural point before the timings: Airflow is a conductor, not a worker, and it drives the Spark and dbt containers over the Docker socket. Say every task started a second or two after its predecessor finished, which is the actual evidence that the dependency order was real rather than decorative. If you have time, admit that an earlier run looked complete until you audited it and found two tasks had no upstream edge, and that this run exists to close that gap. That admission usually earns more credit than the green ticks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screenshots come from the hosted app, so there is no laptop in the demo path and nothing to fail live. Explain that the app is deliberately dumb: it filters, ranks and draws, and every statistic it shows was computed in the warehouse. Use the monthly chart to make the persistence argument, because a signal that appears in one month is a very different thing from one present in all twenty-four. Mention that the all-time query comes back in about 3.7 seconds, which is why that model was left as a view rather than materialised. If someone asks about blank ratios, explain that a reaction reported only with one drug leaves the ratio undefined and the macros return null rather than inventing infinity.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principle rather than the YAML: a passing check only proves the workflow executed, so you deliberately made each gate fail once. The secret scan is the one to dwell on, because it turns a claim you used to verify by hand into a test that runs forever. Explain that the S3 check compares an artifact living outside the repository, so it can go red when no code changed at all. Mention that CI connects to the warehouse as its own identity, never the production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headline claim plainly and then show that each half of it is enforced by something rather than by discipline. The isolation proof is the strongest item here: you tried to read production as the CI identity and were refused, so the boundary is a missing grant rather than a setting somebody could change. Be upfront about branch protection being inert on this plan, and say clearly that detection works today and you demonstrated it rejecting a credential. Ending on a limitation rather than hiding it usually reads as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these as the part of the project you learned most from, not as an apology. The S3 one is the headline: a step that was individually correct made the whole chain wrong, and it was caught by a baseline you had captured on purpose before a destructive run. The trust-policy one deserves a beat because it is counter-intuitive: the policy saved cleanly, read correctly and authorised nobody. Finish on the last one, where the tight policy exposed a flaw in your own code and widening it would have hidden the problem instead of fixing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 out loud early, because it usually surprises people. Explain that the layer which normally dominates a data-platform bill is orchestration, and here it costs nothing because Airflow, Spark and dbt all run on hardware you already own. Make the scaling point carefully: storage is never the constraint, the constraint is how long Spark takes on a laptop and how much disk Bronze needs. If asked what you would change first, say move the Spark step to managed compute, and be clear that trades hours of waiting for a few dollars per run.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and let the three columns do the summarising for you. If you only get one sentence, say you built a batch ELT pipeline that turns two years of public adverse-event reports into a ranked, tested, orchestrated candidate list an analyst can actually use. Invite the two questions you most want: what would you do differently, and how do you know the numbers are right. Have the artifact analysis and the not-flagged Death row ready, because those are your strongest answers.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6.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FDA.png"/>
          <p:cNvPicPr>
            <a:picLocks noChangeAspect="1"/>
          </p:cNvPicPr>
          <p:nvPr/>
        </p:nvPicPr>
        <p:blipFill>
          <a:blip r:embed="rId2"/>
          <a:stretch>
            <a:fillRect/>
          </a:stretch>
        </p:blipFill>
        <p:spPr>
          <a:xfrm>
            <a:off x="8716975" y="2330744"/>
            <a:ext cx="2926080" cy="2196510"/>
          </a:xfrm>
          <a:prstGeom prst="rect">
            <a:avLst/>
          </a:prstGeom>
        </p:spPr>
      </p:pic>
      <p:sp>
        <p:nvSpPr>
          <p:cNvPr id="4" name="TextBox 3"/>
          <p:cNvSpPr txBox="1"/>
          <p:nvPr/>
        </p:nvSpPr>
        <p:spPr>
          <a:xfrm>
            <a:off x="548640" y="1783080"/>
            <a:ext cx="7589520" cy="1325880"/>
          </a:xfrm>
          <a:prstGeom prst="rect">
            <a:avLst/>
          </a:prstGeom>
          <a:noFill/>
        </p:spPr>
        <p:txBody>
          <a:bodyPr wrap="square" lIns="0" rIns="0" tIns="0" bIns="0">
            <a:spAutoFit/>
          </a:bodyPr>
          <a:lstStyle/>
          <a:p>
            <a:pPr algn="l">
              <a:lnSpc>
                <a:spcPct val="95000"/>
              </a:lnSpc>
            </a:pPr>
            <a:r>
              <a:rPr sz="5000" b="1" i="0">
                <a:solidFill>
                  <a:srgbClr val="F8FAFC"/>
                </a:solidFill>
                <a:latin typeface="Segoe UI Semibold"/>
              </a:rPr>
              <a:t>Drug Safety</a:t>
            </a:r>
          </a:p>
          <a:p>
            <a:pPr algn="l">
              <a:lnSpc>
                <a:spcPct val="95000"/>
              </a:lnSpc>
            </a:pPr>
            <a:r>
              <a:rPr sz="5000" b="1" i="0">
                <a:solidFill>
                  <a:srgbClr val="F8FAFC"/>
                </a:solidFill>
                <a:latin typeface="Segoe UI Semibold"/>
              </a:rPr>
              <a:t>Signal Detection</a:t>
            </a:r>
          </a:p>
        </p:txBody>
      </p:sp>
      <p:sp>
        <p:nvSpPr>
          <p:cNvPr id="5" name="TextBox 4"/>
          <p:cNvSpPr txBox="1"/>
          <p:nvPr/>
        </p:nvSpPr>
        <p:spPr>
          <a:xfrm>
            <a:off x="548640" y="3401568"/>
            <a:ext cx="7406640" cy="731520"/>
          </a:xfrm>
          <a:prstGeom prst="rect">
            <a:avLst/>
          </a:prstGeom>
          <a:noFill/>
        </p:spPr>
        <p:txBody>
          <a:bodyPr wrap="square" lIns="0" rIns="0" tIns="0" bIns="0">
            <a:spAutoFit/>
          </a:bodyPr>
          <a:lstStyle/>
          <a:p>
            <a:pPr algn="l">
              <a:lnSpc>
                <a:spcPct val="115000"/>
              </a:lnSpc>
            </a:pPr>
            <a:r>
              <a:rPr sz="1800" b="0" i="0">
                <a:solidFill>
                  <a:srgbClr val="A7B0C0"/>
                </a:solidFill>
                <a:latin typeface="Segoe UI"/>
              </a:rPr>
              <a:t>An end-to-end pharmacovigilance data pipeline on openFDA FAERS data</a:t>
            </a:r>
          </a:p>
        </p:txBody>
      </p:sp>
      <p:sp>
        <p:nvSpPr>
          <p:cNvPr id="6" name="Rectangle 5"/>
          <p:cNvSpPr/>
          <p:nvPr/>
        </p:nvSpPr>
        <p:spPr>
          <a:xfrm>
            <a:off x="548640" y="4261104"/>
            <a:ext cx="1463040" cy="38100"/>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4498848"/>
            <a:ext cx="5486400" cy="685800"/>
          </a:xfrm>
          <a:prstGeom prst="rect">
            <a:avLst/>
          </a:prstGeom>
          <a:noFill/>
        </p:spPr>
        <p:txBody>
          <a:bodyPr wrap="square" lIns="0" rIns="0" tIns="0" bIns="0">
            <a:spAutoFit/>
          </a:bodyPr>
          <a:lstStyle/>
          <a:p>
            <a:pPr algn="l">
              <a:spcAft>
                <a:spcPts val="400"/>
              </a:spcAft>
            </a:pPr>
            <a:r>
              <a:rPr sz="2100" b="1" i="0">
                <a:solidFill>
                  <a:srgbClr val="F8FAFC"/>
                </a:solidFill>
                <a:latin typeface="Segoe UI"/>
              </a:rPr>
              <a:t>Nastaran Kouhdareh</a:t>
            </a:r>
          </a:p>
          <a:p>
            <a:pPr algn="l"/>
            <a:r>
              <a:rPr sz="1600" b="0" i="0">
                <a:solidFill>
                  <a:srgbClr val="A7B0C0"/>
                </a:solidFill>
                <a:latin typeface="Segoe UI"/>
              </a:rPr>
              <a:t>24 August 2026</a:t>
            </a:r>
          </a:p>
        </p:txBody>
      </p:sp>
      <p:sp>
        <p:nvSpPr>
          <p:cNvPr id="8"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9"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F87171"/>
                </a:solidFill>
                <a:latin typeface="Segoe UI"/>
              </a:rPr>
              <a:t>THE PROBLEM</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Three things stand between the data and an answer</a:t>
            </a:r>
          </a:p>
        </p:txBody>
      </p:sp>
      <p:sp>
        <p:nvSpPr>
          <p:cNvPr id="5" name="Rounded Rectangle 4"/>
          <p:cNvSpPr/>
          <p:nvPr/>
        </p:nvSpPr>
        <p:spPr>
          <a:xfrm>
            <a:off x="548640" y="1737360"/>
            <a:ext cx="3490874" cy="278892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64792"/>
            <a:ext cx="76200" cy="2734056"/>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9536" y="2011680"/>
            <a:ext cx="2923946" cy="2331720"/>
          </a:xfrm>
          <a:prstGeom prst="rect">
            <a:avLst/>
          </a:prstGeom>
          <a:noFill/>
        </p:spPr>
        <p:txBody>
          <a:bodyPr wrap="square" lIns="0" rIns="0" tIns="0" bIns="0">
            <a:spAutoFit/>
          </a:bodyPr>
          <a:lstStyle/>
          <a:p>
            <a:pPr algn="l">
              <a:spcAft>
                <a:spcPts val="1400"/>
              </a:spcAft>
            </a:pPr>
            <a:r>
              <a:rPr sz="2200" b="1" i="0">
                <a:solidFill>
                  <a:srgbClr val="F8FAFC"/>
                </a:solidFill>
                <a:latin typeface="Segoe UI Semibold"/>
              </a:rPr>
              <a:t>Fragmented sources</a:t>
            </a:r>
          </a:p>
          <a:p>
            <a:pPr algn="l">
              <a:lnSpc>
                <a:spcPct val="115000"/>
              </a:lnSpc>
              <a:spcAft>
                <a:spcPts val="1000"/>
              </a:spcAft>
            </a:pPr>
            <a:r>
              <a:rPr sz="1600" b="0">
                <a:solidFill>
                  <a:srgbClr val="F87171"/>
                </a:solidFill>
                <a:latin typeface="Segoe UI"/>
              </a:rPr>
              <a:t>—  </a:t>
            </a:r>
            <a:r>
              <a:rPr sz="1600" b="0">
                <a:solidFill>
                  <a:srgbClr val="A7B0C0"/>
                </a:solidFill>
                <a:latin typeface="Segoe UI"/>
              </a:rPr>
              <a:t>2,687,675 FAERS reports, deeply nested</a:t>
            </a:r>
          </a:p>
          <a:p>
            <a:pPr algn="l">
              <a:lnSpc>
                <a:spcPct val="115000"/>
              </a:lnSpc>
              <a:spcAft>
                <a:spcPts val="1000"/>
              </a:spcAft>
            </a:pPr>
            <a:r>
              <a:rPr sz="1600" b="0">
                <a:solidFill>
                  <a:srgbClr val="F87171"/>
                </a:solidFill>
                <a:latin typeface="Segoe UI"/>
              </a:rPr>
              <a:t>—  </a:t>
            </a:r>
            <a:r>
              <a:rPr sz="1600" b="0">
                <a:solidFill>
                  <a:srgbClr val="A7B0C0"/>
                </a:solidFill>
                <a:latin typeface="Segoe UI"/>
              </a:rPr>
              <a:t>261,258 labels, 136,520 NDC products</a:t>
            </a:r>
          </a:p>
          <a:p>
            <a:pPr algn="l">
              <a:lnSpc>
                <a:spcPct val="115000"/>
              </a:lnSpc>
              <a:spcAft>
                <a:spcPts val="1000"/>
              </a:spcAft>
            </a:pPr>
            <a:r>
              <a:rPr sz="1600" b="0">
                <a:solidFill>
                  <a:srgbClr val="F87171"/>
                </a:solidFill>
                <a:latin typeface="Segoe UI"/>
              </a:rPr>
              <a:t>—  </a:t>
            </a:r>
            <a:r>
              <a:rPr sz="1600" b="0">
                <a:solidFill>
                  <a:srgbClr val="A7B0C0"/>
                </a:solidFill>
                <a:latin typeface="Segoe UI"/>
              </a:rPr>
              <a:t>No shared drug identifier between them</a:t>
            </a:r>
          </a:p>
        </p:txBody>
      </p:sp>
      <p:sp>
        <p:nvSpPr>
          <p:cNvPr id="8" name="Rounded Rectangle 7"/>
          <p:cNvSpPr/>
          <p:nvPr/>
        </p:nvSpPr>
        <p:spPr>
          <a:xfrm>
            <a:off x="4350410" y="1737360"/>
            <a:ext cx="3490874" cy="278892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350410" y="1764792"/>
            <a:ext cx="76200" cy="2734056"/>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61306" y="2011680"/>
            <a:ext cx="2923946" cy="2331720"/>
          </a:xfrm>
          <a:prstGeom prst="rect">
            <a:avLst/>
          </a:prstGeom>
          <a:noFill/>
        </p:spPr>
        <p:txBody>
          <a:bodyPr wrap="square" lIns="0" rIns="0" tIns="0" bIns="0">
            <a:spAutoFit/>
          </a:bodyPr>
          <a:lstStyle/>
          <a:p>
            <a:pPr algn="l">
              <a:spcAft>
                <a:spcPts val="1400"/>
              </a:spcAft>
            </a:pPr>
            <a:r>
              <a:rPr sz="2200" b="1" i="0">
                <a:solidFill>
                  <a:srgbClr val="F8FAFC"/>
                </a:solidFill>
                <a:latin typeface="Segoe UI Semibold"/>
              </a:rPr>
              <a:t>Messy drug names</a:t>
            </a:r>
          </a:p>
          <a:p>
            <a:pPr algn="l">
              <a:lnSpc>
                <a:spcPct val="115000"/>
              </a:lnSpc>
              <a:spcAft>
                <a:spcPts val="1000"/>
              </a:spcAft>
            </a:pPr>
            <a:r>
              <a:rPr sz="1600" b="0">
                <a:solidFill>
                  <a:srgbClr val="F87171"/>
                </a:solidFill>
                <a:latin typeface="Segoe UI"/>
              </a:rPr>
              <a:t>—  </a:t>
            </a:r>
            <a:r>
              <a:rPr sz="1600" b="0">
                <a:solidFill>
                  <a:srgbClr val="A7B0C0"/>
                </a:solidFill>
                <a:latin typeface="Segoe UI"/>
              </a:rPr>
              <a:t>One substance, many written forms</a:t>
            </a:r>
          </a:p>
          <a:p>
            <a:pPr algn="l">
              <a:lnSpc>
                <a:spcPct val="115000"/>
              </a:lnSpc>
              <a:spcAft>
                <a:spcPts val="1000"/>
              </a:spcAft>
            </a:pPr>
            <a:r>
              <a:rPr sz="1600" b="0">
                <a:solidFill>
                  <a:srgbClr val="F87171"/>
                </a:solidFill>
                <a:latin typeface="Segoe UI"/>
              </a:rPr>
              <a:t>—  </a:t>
            </a:r>
            <a:r>
              <a:rPr sz="1600" b="0">
                <a:solidFill>
                  <a:srgbClr val="A7B0C0"/>
                </a:solidFill>
                <a:latin typeface="Segoe UI"/>
              </a:rPr>
              <a:t>Brand, generic and dose text mixed</a:t>
            </a:r>
          </a:p>
          <a:p>
            <a:pPr algn="l">
              <a:lnSpc>
                <a:spcPct val="115000"/>
              </a:lnSpc>
              <a:spcAft>
                <a:spcPts val="1000"/>
              </a:spcAft>
            </a:pPr>
            <a:r>
              <a:rPr sz="1600" b="0">
                <a:solidFill>
                  <a:srgbClr val="F87171"/>
                </a:solidFill>
                <a:latin typeface="Segoe UI"/>
              </a:rPr>
              <a:t>—  </a:t>
            </a:r>
            <a:r>
              <a:rPr sz="1600" b="0">
                <a:solidFill>
                  <a:srgbClr val="A7B0C0"/>
                </a:solidFill>
                <a:latin typeface="Segoe UI"/>
              </a:rPr>
              <a:t>84,039 distinct drug signatures</a:t>
            </a:r>
          </a:p>
        </p:txBody>
      </p:sp>
      <p:sp>
        <p:nvSpPr>
          <p:cNvPr id="11" name="Rounded Rectangle 10"/>
          <p:cNvSpPr/>
          <p:nvPr/>
        </p:nvSpPr>
        <p:spPr>
          <a:xfrm>
            <a:off x="8152180" y="1737360"/>
            <a:ext cx="3490874" cy="278892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152180" y="1764792"/>
            <a:ext cx="76200" cy="2734056"/>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63076" y="2011680"/>
            <a:ext cx="2923946" cy="2331720"/>
          </a:xfrm>
          <a:prstGeom prst="rect">
            <a:avLst/>
          </a:prstGeom>
          <a:noFill/>
        </p:spPr>
        <p:txBody>
          <a:bodyPr wrap="square" lIns="0" rIns="0" tIns="0" bIns="0">
            <a:spAutoFit/>
          </a:bodyPr>
          <a:lstStyle/>
          <a:p>
            <a:pPr algn="l">
              <a:spcAft>
                <a:spcPts val="1400"/>
              </a:spcAft>
            </a:pPr>
            <a:r>
              <a:rPr sz="2200" b="1" i="0">
                <a:solidFill>
                  <a:srgbClr val="F8FAFC"/>
                </a:solidFill>
                <a:latin typeface="Segoe UI Semibold"/>
              </a:rPr>
              <a:t>Review does not scale</a:t>
            </a:r>
          </a:p>
          <a:p>
            <a:pPr algn="l">
              <a:lnSpc>
                <a:spcPct val="115000"/>
              </a:lnSpc>
              <a:spcAft>
                <a:spcPts val="1000"/>
              </a:spcAft>
            </a:pPr>
            <a:r>
              <a:rPr sz="1600" b="0">
                <a:solidFill>
                  <a:srgbClr val="F87171"/>
                </a:solidFill>
                <a:latin typeface="Segoe UI"/>
              </a:rPr>
              <a:t>—  </a:t>
            </a:r>
            <a:r>
              <a:rPr sz="1600" b="0">
                <a:solidFill>
                  <a:srgbClr val="A7B0C0"/>
                </a:solidFill>
                <a:latin typeface="Segoe UI"/>
              </a:rPr>
              <a:t>1,240,645 drug-reaction pairs</a:t>
            </a:r>
          </a:p>
          <a:p>
            <a:pPr algn="l">
              <a:lnSpc>
                <a:spcPct val="115000"/>
              </a:lnSpc>
              <a:spcAft>
                <a:spcPts val="1000"/>
              </a:spcAft>
            </a:pPr>
            <a:r>
              <a:rPr sz="1600" b="0">
                <a:solidFill>
                  <a:srgbClr val="F87171"/>
                </a:solidFill>
                <a:latin typeface="Segoe UI"/>
              </a:rPr>
              <a:t>—  </a:t>
            </a:r>
            <a:r>
              <a:rPr sz="1600" b="0">
                <a:solidFill>
                  <a:srgbClr val="A7B0C0"/>
                </a:solidFill>
                <a:latin typeface="Segoe UI"/>
              </a:rPr>
              <a:t>No ranking and no visible support</a:t>
            </a:r>
          </a:p>
          <a:p>
            <a:pPr algn="l">
              <a:lnSpc>
                <a:spcPct val="115000"/>
              </a:lnSpc>
              <a:spcAft>
                <a:spcPts val="1000"/>
              </a:spcAft>
            </a:pPr>
            <a:r>
              <a:rPr sz="1600" b="0">
                <a:solidFill>
                  <a:srgbClr val="F87171"/>
                </a:solidFill>
                <a:latin typeface="Segoe UI"/>
              </a:rPr>
              <a:t>—  </a:t>
            </a:r>
            <a:r>
              <a:rPr sz="1600" b="0">
                <a:solidFill>
                  <a:srgbClr val="A7B0C0"/>
                </a:solidFill>
                <a:latin typeface="Segoe UI"/>
              </a:rPr>
              <a:t>An analyst cannot read them by hand</a:t>
            </a:r>
          </a:p>
        </p:txBody>
      </p:sp>
      <p:sp>
        <p:nvSpPr>
          <p:cNvPr id="14"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15"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FF8A1F"/>
                </a:solidFill>
                <a:latin typeface="Segoe UI"/>
              </a:rPr>
              <a:t>THE QUESTION</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What I set out to answer</a:t>
            </a:r>
          </a:p>
        </p:txBody>
      </p:sp>
      <p:sp>
        <p:nvSpPr>
          <p:cNvPr id="5" name="Rectangle 4"/>
          <p:cNvSpPr/>
          <p:nvPr/>
        </p:nvSpPr>
        <p:spPr>
          <a:xfrm>
            <a:off x="548640" y="1572768"/>
            <a:ext cx="76200" cy="2331720"/>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59536" y="1627632"/>
            <a:ext cx="6492240" cy="2240280"/>
          </a:xfrm>
          <a:prstGeom prst="rect">
            <a:avLst/>
          </a:prstGeom>
          <a:noFill/>
        </p:spPr>
        <p:txBody>
          <a:bodyPr wrap="square" lIns="0" rIns="0" tIns="0" bIns="0">
            <a:spAutoFit/>
          </a:bodyPr>
          <a:lstStyle/>
          <a:p>
            <a:pPr algn="l">
              <a:lnSpc>
                <a:spcPct val="116000"/>
              </a:lnSpc>
            </a:pPr>
            <a:r>
              <a:rPr sz="2700" b="1" i="0">
                <a:solidFill>
                  <a:srgbClr val="F8FAFC"/>
                </a:solidFill>
                <a:latin typeface="Segoe UI Semibold"/>
              </a:rPr>
              <a:t>Which drug-reaction pairs are reported far more often than chance would explain — and can I rank them so an expert can triage the top of the list?</a:t>
            </a:r>
          </a:p>
        </p:txBody>
      </p:sp>
      <p:sp>
        <p:nvSpPr>
          <p:cNvPr id="7" name="TextBox 6"/>
          <p:cNvSpPr txBox="1"/>
          <p:nvPr/>
        </p:nvSpPr>
        <p:spPr>
          <a:xfrm>
            <a:off x="859536" y="4078224"/>
            <a:ext cx="6492240" cy="822960"/>
          </a:xfrm>
          <a:prstGeom prst="rect">
            <a:avLst/>
          </a:prstGeom>
          <a:noFill/>
        </p:spPr>
        <p:txBody>
          <a:bodyPr wrap="square" lIns="0" rIns="0" tIns="0" bIns="0">
            <a:spAutoFit/>
          </a:bodyPr>
          <a:lstStyle/>
          <a:p>
            <a:pPr algn="l">
              <a:spcAft>
                <a:spcPts val="800"/>
              </a:spcAft>
            </a:pPr>
            <a:r>
              <a:rPr sz="1600" b="0" i="0">
                <a:solidFill>
                  <a:srgbClr val="A7B0C0"/>
                </a:solidFill>
                <a:latin typeface="Segoe UI"/>
              </a:rPr>
              <a:t>Domain: health and pharmacovigilance.  Batch ELT into an OLAP warehouse.</a:t>
            </a:r>
          </a:p>
          <a:p>
            <a:pPr algn="l"/>
            <a:r>
              <a:rPr sz="1600" b="0" i="0">
                <a:solidFill>
                  <a:srgbClr val="A7B0C0"/>
                </a:solidFill>
                <a:latin typeface="Segoe UI"/>
              </a:rPr>
              <a:t>The answer has to be a ranked candidate list, never an automatic verdict.</a:t>
            </a:r>
          </a:p>
        </p:txBody>
      </p:sp>
      <p:sp>
        <p:nvSpPr>
          <p:cNvPr id="8" name="Rounded Rectangle 7"/>
          <p:cNvSpPr/>
          <p:nvPr/>
        </p:nvSpPr>
        <p:spPr>
          <a:xfrm>
            <a:off x="7589520" y="1572768"/>
            <a:ext cx="4053535" cy="331012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589520" y="1600200"/>
            <a:ext cx="76200" cy="3255264"/>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900416" y="1847088"/>
            <a:ext cx="3486607" cy="2743200"/>
          </a:xfrm>
          <a:prstGeom prst="rect">
            <a:avLst/>
          </a:prstGeom>
          <a:noFill/>
        </p:spPr>
        <p:txBody>
          <a:bodyPr wrap="square" lIns="0" rIns="0" tIns="0" bIns="0">
            <a:spAutoFit/>
          </a:bodyPr>
          <a:lstStyle/>
          <a:p>
            <a:pPr algn="l">
              <a:spcAft>
                <a:spcPts val="1000"/>
              </a:spcAft>
            </a:pPr>
            <a:r>
              <a:rPr sz="1300" b="1" i="0" spc="160">
                <a:solidFill>
                  <a:srgbClr val="FF8A1F"/>
                </a:solidFill>
                <a:latin typeface="Segoe UI"/>
              </a:rPr>
              <a:t>THE USER</a:t>
            </a:r>
          </a:p>
          <a:p>
            <a:pPr algn="l">
              <a:spcAft>
                <a:spcPts val="1600"/>
              </a:spcAft>
            </a:pPr>
            <a:r>
              <a:rPr sz="2200" b="1" i="0">
                <a:solidFill>
                  <a:srgbClr val="F8FAFC"/>
                </a:solidFill>
                <a:latin typeface="Segoe UI Semibold"/>
              </a:rPr>
              <a:t>A drug-safety analyst</a:t>
            </a:r>
          </a:p>
          <a:p>
            <a:pPr algn="l">
              <a:lnSpc>
                <a:spcPct val="115000"/>
              </a:lnSpc>
              <a:spcAft>
                <a:spcPts val="1100"/>
              </a:spcAft>
            </a:pPr>
            <a:r>
              <a:rPr sz="1600" b="0">
                <a:solidFill>
                  <a:srgbClr val="FF8A1F"/>
                </a:solidFill>
                <a:latin typeface="Segoe UI"/>
              </a:rPr>
              <a:t>—  </a:t>
            </a:r>
            <a:r>
              <a:rPr sz="1600" b="0">
                <a:solidFill>
                  <a:srgbClr val="A7B0C0"/>
                </a:solidFill>
                <a:latin typeface="Segoe UI"/>
              </a:rPr>
              <a:t>Needs candidates to investigate, not raw reports</a:t>
            </a:r>
          </a:p>
          <a:p>
            <a:pPr algn="l">
              <a:lnSpc>
                <a:spcPct val="115000"/>
              </a:lnSpc>
              <a:spcAft>
                <a:spcPts val="1100"/>
              </a:spcAft>
            </a:pPr>
            <a:r>
              <a:rPr sz="1600" b="0">
                <a:solidFill>
                  <a:srgbClr val="FF8A1F"/>
                </a:solidFill>
                <a:latin typeface="Segoe UI"/>
              </a:rPr>
              <a:t>—  </a:t>
            </a:r>
            <a:r>
              <a:rPr sz="1600" b="0">
                <a:solidFill>
                  <a:srgbClr val="A7B0C0"/>
                </a:solidFill>
                <a:latin typeface="Segoe UI"/>
              </a:rPr>
              <a:t>Ranked by strength, with the counts behind them shown</a:t>
            </a:r>
          </a:p>
          <a:p>
            <a:pPr algn="l">
              <a:lnSpc>
                <a:spcPct val="115000"/>
              </a:lnSpc>
              <a:spcAft>
                <a:spcPts val="1100"/>
              </a:spcAft>
            </a:pPr>
            <a:r>
              <a:rPr sz="1600" b="0">
                <a:solidFill>
                  <a:srgbClr val="FF8A1F"/>
                </a:solidFill>
                <a:latin typeface="Segoe UI"/>
              </a:rPr>
              <a:t>—  </a:t>
            </a:r>
            <a:r>
              <a:rPr sz="1600" b="0">
                <a:solidFill>
                  <a:srgbClr val="A7B0C0"/>
                </a:solidFill>
                <a:latin typeface="Segoe UI"/>
              </a:rPr>
              <a:t>Uses it to decide what deserves a human look</a:t>
            </a:r>
          </a:p>
        </p:txBody>
      </p:sp>
      <p:sp>
        <p:nvSpPr>
          <p:cNvPr id="11"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12"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7315200" cy="420624"/>
          </a:xfrm>
          <a:prstGeom prst="rect">
            <a:avLst/>
          </a:prstGeom>
          <a:noFill/>
        </p:spPr>
        <p:txBody>
          <a:bodyPr wrap="square" lIns="0" rIns="0" tIns="0" bIns="0">
            <a:spAutoFit/>
          </a:bodyPr>
          <a:lstStyle/>
          <a:p>
            <a:pPr algn="l"/>
            <a:r>
              <a:rPr sz="2800" b="1" i="0">
                <a:solidFill>
                  <a:srgbClr val="F8FAFC"/>
                </a:solidFill>
                <a:latin typeface="Segoe UI Semibold"/>
              </a:rPr>
              <a:t>End-to-end architecture</a:t>
            </a:r>
          </a:p>
        </p:txBody>
      </p:sp>
      <p:sp>
        <p:nvSpPr>
          <p:cNvPr id="4" name="TextBox 3"/>
          <p:cNvSpPr txBox="1"/>
          <p:nvPr/>
        </p:nvSpPr>
        <p:spPr>
          <a:xfrm>
            <a:off x="7955279" y="658368"/>
            <a:ext cx="3687775" cy="256032"/>
          </a:xfrm>
          <a:prstGeom prst="rect">
            <a:avLst/>
          </a:prstGeom>
          <a:noFill/>
        </p:spPr>
        <p:txBody>
          <a:bodyPr wrap="square" lIns="0" rIns="0" tIns="0" bIns="0">
            <a:spAutoFit/>
          </a:bodyPr>
          <a:lstStyle/>
          <a:p>
            <a:pPr algn="r"/>
            <a:r>
              <a:rPr sz="1200" b="0" i="0">
                <a:solidFill>
                  <a:srgbClr val="A7B0C0"/>
                </a:solidFill>
                <a:latin typeface="Segoe UI"/>
              </a:rPr>
              <a:t>solid = data flow   ·   dashed = control</a:t>
            </a:r>
          </a:p>
        </p:txBody>
      </p:sp>
      <p:pic>
        <p:nvPicPr>
          <p:cNvPr id="5" name="Picture 4" descr="architecture.png"/>
          <p:cNvPicPr>
            <a:picLocks noChangeAspect="1"/>
          </p:cNvPicPr>
          <p:nvPr/>
        </p:nvPicPr>
        <p:blipFill>
          <a:blip r:embed="rId2"/>
          <a:stretch>
            <a:fillRect/>
          </a:stretch>
        </p:blipFill>
        <p:spPr>
          <a:xfrm>
            <a:off x="1739239" y="1060704"/>
            <a:ext cx="8713216" cy="4901184"/>
          </a:xfrm>
          <a:prstGeom prst="rect">
            <a:avLst/>
          </a:prstGeom>
        </p:spPr>
      </p:pic>
      <p:sp>
        <p:nvSpPr>
          <p:cNvPr id="6"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7"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A78BFA"/>
                </a:solidFill>
                <a:latin typeface="Segoe UI"/>
              </a:rPr>
              <a:t>THE DATA</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Three openFDA sources, one immutable Bronze layer</a:t>
            </a:r>
          </a:p>
        </p:txBody>
      </p:sp>
      <p:sp>
        <p:nvSpPr>
          <p:cNvPr id="5" name="Rounded Rectangle 4"/>
          <p:cNvSpPr/>
          <p:nvPr/>
        </p:nvSpPr>
        <p:spPr>
          <a:xfrm>
            <a:off x="548640" y="1481328"/>
            <a:ext cx="2581579" cy="157276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08760"/>
            <a:ext cx="76200" cy="1517904"/>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41247" y="1737360"/>
            <a:ext cx="2069515" cy="1097280"/>
          </a:xfrm>
          <a:prstGeom prst="rect">
            <a:avLst/>
          </a:prstGeom>
          <a:noFill/>
        </p:spPr>
        <p:txBody>
          <a:bodyPr wrap="square" lIns="0" rIns="0" tIns="0" bIns="0">
            <a:spAutoFit/>
          </a:bodyPr>
          <a:lstStyle/>
          <a:p>
            <a:pPr algn="l">
              <a:spcAft>
                <a:spcPts val="800"/>
              </a:spcAft>
            </a:pPr>
            <a:r>
              <a:rPr sz="3000" b="1" i="0">
                <a:solidFill>
                  <a:srgbClr val="F8FAFC"/>
                </a:solidFill>
                <a:latin typeface="Segoe UI Semibold"/>
              </a:rPr>
              <a:t>2,687,675</a:t>
            </a:r>
          </a:p>
          <a:p>
            <a:pPr algn="l">
              <a:lnSpc>
                <a:spcPct val="112000"/>
              </a:lnSpc>
            </a:pPr>
            <a:r>
              <a:rPr sz="1400" b="0" i="0">
                <a:solidFill>
                  <a:srgbClr val="A7B0C0"/>
                </a:solidFill>
                <a:latin typeface="Segoe UI"/>
              </a:rPr>
              <a:t>FAERS drug-event reports, 2023-2024</a:t>
            </a:r>
          </a:p>
        </p:txBody>
      </p:sp>
      <p:sp>
        <p:nvSpPr>
          <p:cNvPr id="8" name="Rounded Rectangle 7"/>
          <p:cNvSpPr/>
          <p:nvPr/>
        </p:nvSpPr>
        <p:spPr>
          <a:xfrm>
            <a:off x="3386251" y="1481328"/>
            <a:ext cx="2581579" cy="157276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386251" y="1508760"/>
            <a:ext cx="76200" cy="1517904"/>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78859" y="1737360"/>
            <a:ext cx="2069515" cy="1097280"/>
          </a:xfrm>
          <a:prstGeom prst="rect">
            <a:avLst/>
          </a:prstGeom>
          <a:noFill/>
        </p:spPr>
        <p:txBody>
          <a:bodyPr wrap="square" lIns="0" rIns="0" tIns="0" bIns="0">
            <a:spAutoFit/>
          </a:bodyPr>
          <a:lstStyle/>
          <a:p>
            <a:pPr algn="l">
              <a:spcAft>
                <a:spcPts val="800"/>
              </a:spcAft>
            </a:pPr>
            <a:r>
              <a:rPr sz="3000" b="1" i="0">
                <a:solidFill>
                  <a:srgbClr val="F8FAFC"/>
                </a:solidFill>
                <a:latin typeface="Segoe UI Semibold"/>
              </a:rPr>
              <a:t>261,258</a:t>
            </a:r>
          </a:p>
          <a:p>
            <a:pPr algn="l">
              <a:lnSpc>
                <a:spcPct val="112000"/>
              </a:lnSpc>
            </a:pPr>
            <a:r>
              <a:rPr sz="1400" b="0" i="0">
                <a:solidFill>
                  <a:srgbClr val="A7B0C0"/>
                </a:solidFill>
                <a:latin typeface="Segoe UI"/>
              </a:rPr>
              <a:t>Drug labels</a:t>
            </a:r>
          </a:p>
        </p:txBody>
      </p:sp>
      <p:sp>
        <p:nvSpPr>
          <p:cNvPr id="11" name="Rounded Rectangle 10"/>
          <p:cNvSpPr/>
          <p:nvPr/>
        </p:nvSpPr>
        <p:spPr>
          <a:xfrm>
            <a:off x="6223863" y="1481328"/>
            <a:ext cx="2581579" cy="157276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3863" y="1508760"/>
            <a:ext cx="76200" cy="1517904"/>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16471" y="1737360"/>
            <a:ext cx="2069515" cy="1097280"/>
          </a:xfrm>
          <a:prstGeom prst="rect">
            <a:avLst/>
          </a:prstGeom>
          <a:noFill/>
        </p:spPr>
        <p:txBody>
          <a:bodyPr wrap="square" lIns="0" rIns="0" tIns="0" bIns="0">
            <a:spAutoFit/>
          </a:bodyPr>
          <a:lstStyle/>
          <a:p>
            <a:pPr algn="l">
              <a:spcAft>
                <a:spcPts val="800"/>
              </a:spcAft>
            </a:pPr>
            <a:r>
              <a:rPr sz="3000" b="1" i="0">
                <a:solidFill>
                  <a:srgbClr val="F8FAFC"/>
                </a:solidFill>
                <a:latin typeface="Segoe UI Semibold"/>
              </a:rPr>
              <a:t>136,520</a:t>
            </a:r>
          </a:p>
          <a:p>
            <a:pPr algn="l">
              <a:lnSpc>
                <a:spcPct val="112000"/>
              </a:lnSpc>
            </a:pPr>
            <a:r>
              <a:rPr sz="1400" b="0" i="0">
                <a:solidFill>
                  <a:srgbClr val="A7B0C0"/>
                </a:solidFill>
                <a:latin typeface="Segoe UI"/>
              </a:rPr>
              <a:t>NDC directory products</a:t>
            </a:r>
          </a:p>
        </p:txBody>
      </p:sp>
      <p:sp>
        <p:nvSpPr>
          <p:cNvPr id="14" name="Rounded Rectangle 13"/>
          <p:cNvSpPr/>
          <p:nvPr/>
        </p:nvSpPr>
        <p:spPr>
          <a:xfrm>
            <a:off x="9061475" y="1481328"/>
            <a:ext cx="2581579" cy="157276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061475" y="1508760"/>
            <a:ext cx="76200" cy="1517904"/>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54083" y="1737360"/>
            <a:ext cx="2069515" cy="1097280"/>
          </a:xfrm>
          <a:prstGeom prst="rect">
            <a:avLst/>
          </a:prstGeom>
          <a:noFill/>
        </p:spPr>
        <p:txBody>
          <a:bodyPr wrap="square" lIns="0" rIns="0" tIns="0" bIns="0">
            <a:spAutoFit/>
          </a:bodyPr>
          <a:lstStyle/>
          <a:p>
            <a:pPr algn="l">
              <a:spcAft>
                <a:spcPts val="800"/>
              </a:spcAft>
            </a:pPr>
            <a:r>
              <a:rPr sz="3000" b="1" i="0">
                <a:solidFill>
                  <a:srgbClr val="F8FAFC"/>
                </a:solidFill>
                <a:latin typeface="Segoe UI Semibold"/>
              </a:rPr>
              <a:t>64 GB</a:t>
            </a:r>
          </a:p>
          <a:p>
            <a:pPr algn="l">
              <a:lnSpc>
                <a:spcPct val="112000"/>
              </a:lnSpc>
            </a:pPr>
            <a:r>
              <a:rPr sz="1400" b="0" i="0">
                <a:solidFill>
                  <a:srgbClr val="A7B0C0"/>
                </a:solidFill>
                <a:latin typeface="Segoe UI"/>
              </a:rPr>
              <a:t>Bronze on local disk, immutable NDJSON</a:t>
            </a:r>
          </a:p>
        </p:txBody>
      </p:sp>
      <p:pic>
        <p:nvPicPr>
          <p:cNvPr id="17" name="Picture 16" descr="python.png"/>
          <p:cNvPicPr>
            <a:picLocks noChangeAspect="1"/>
          </p:cNvPicPr>
          <p:nvPr/>
        </p:nvPicPr>
        <p:blipFill>
          <a:blip r:embed="rId2"/>
          <a:stretch>
            <a:fillRect/>
          </a:stretch>
        </p:blipFill>
        <p:spPr>
          <a:xfrm>
            <a:off x="566928" y="3218688"/>
            <a:ext cx="310896" cy="310896"/>
          </a:xfrm>
          <a:prstGeom prst="rect">
            <a:avLst/>
          </a:prstGeom>
        </p:spPr>
      </p:pic>
      <p:pic>
        <p:nvPicPr>
          <p:cNvPr id="18" name="Picture 17" descr="docker.png"/>
          <p:cNvPicPr>
            <a:picLocks noChangeAspect="1"/>
          </p:cNvPicPr>
          <p:nvPr/>
        </p:nvPicPr>
        <p:blipFill>
          <a:blip r:embed="rId3"/>
          <a:stretch>
            <a:fillRect/>
          </a:stretch>
        </p:blipFill>
        <p:spPr>
          <a:xfrm>
            <a:off x="969264" y="3218688"/>
            <a:ext cx="310896" cy="310896"/>
          </a:xfrm>
          <a:prstGeom prst="rect">
            <a:avLst/>
          </a:prstGeom>
        </p:spPr>
      </p:pic>
      <p:sp>
        <p:nvSpPr>
          <p:cNvPr id="19" name="TextBox 18"/>
          <p:cNvSpPr txBox="1"/>
          <p:nvPr/>
        </p:nvSpPr>
        <p:spPr>
          <a:xfrm>
            <a:off x="1408176" y="3246120"/>
            <a:ext cx="5486400" cy="292608"/>
          </a:xfrm>
          <a:prstGeom prst="rect">
            <a:avLst/>
          </a:prstGeom>
          <a:noFill/>
        </p:spPr>
        <p:txBody>
          <a:bodyPr wrap="square" lIns="0" rIns="0" tIns="0" bIns="0">
            <a:spAutoFit/>
          </a:bodyPr>
          <a:lstStyle/>
          <a:p>
            <a:pPr algn="l"/>
            <a:r>
              <a:rPr sz="1400" b="0" i="0">
                <a:solidFill>
                  <a:srgbClr val="A7B0C0"/>
                </a:solidFill>
                <a:latin typeface="Segoe UI"/>
              </a:rPr>
              <a:t>Python ingestion in Docker · Bronze is never rewritten</a:t>
            </a:r>
          </a:p>
        </p:txBody>
      </p:sp>
      <p:sp>
        <p:nvSpPr>
          <p:cNvPr id="20" name="TextBox 19"/>
          <p:cNvSpPr txBox="1"/>
          <p:nvPr/>
        </p:nvSpPr>
        <p:spPr>
          <a:xfrm>
            <a:off x="548640" y="3785615"/>
            <a:ext cx="11094415" cy="274320"/>
          </a:xfrm>
          <a:prstGeom prst="rect">
            <a:avLst/>
          </a:prstGeom>
          <a:noFill/>
        </p:spPr>
        <p:txBody>
          <a:bodyPr wrap="square" lIns="0" rIns="0" tIns="0" bIns="0">
            <a:spAutoFit/>
          </a:bodyPr>
          <a:lstStyle/>
          <a:p>
            <a:pPr algn="l"/>
            <a:r>
              <a:rPr sz="1300" b="1" i="0" spc="160">
                <a:solidFill>
                  <a:srgbClr val="A78BFA"/>
                </a:solidFill>
                <a:latin typeface="Segoe UI"/>
              </a:rPr>
              <a:t>FLATTEN, THEN DEDUPLICATE</a:t>
            </a:r>
          </a:p>
        </p:txBody>
      </p:sp>
      <p:sp>
        <p:nvSpPr>
          <p:cNvPr id="21" name="Rounded Rectangle 20"/>
          <p:cNvSpPr/>
          <p:nvPr/>
        </p:nvSpPr>
        <p:spPr>
          <a:xfrm>
            <a:off x="548640" y="4133087"/>
            <a:ext cx="11094415" cy="566928"/>
          </a:xfrm>
          <a:prstGeom prst="roundRect">
            <a:avLst>
              <a:gd name="adj" fmla="val 220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59" y="4261104"/>
            <a:ext cx="10545775" cy="329184"/>
          </a:xfrm>
          <a:prstGeom prst="rect">
            <a:avLst/>
          </a:prstGeom>
          <a:noFill/>
        </p:spPr>
        <p:txBody>
          <a:bodyPr wrap="square" lIns="0" rIns="0" tIns="0" bIns="0">
            <a:spAutoFit/>
          </a:bodyPr>
          <a:lstStyle/>
          <a:p>
            <a:pPr algn="l"/>
            <a:r>
              <a:rPr sz="1800" b="1">
                <a:solidFill>
                  <a:srgbClr val="F8FAFC"/>
                </a:solidFill>
                <a:latin typeface="Segoe UI"/>
              </a:rPr>
              <a:t>93,366,638</a:t>
            </a:r>
            <a:r>
              <a:rPr sz="1800" b="0">
                <a:solidFill>
                  <a:srgbClr val="A7B0C0"/>
                </a:solidFill>
                <a:latin typeface="Segoe UI"/>
              </a:rPr>
              <a:t>   flattened atomic rows</a:t>
            </a:r>
          </a:p>
        </p:txBody>
      </p:sp>
      <p:sp>
        <p:nvSpPr>
          <p:cNvPr id="23" name="Rounded Rectangle 22"/>
          <p:cNvSpPr/>
          <p:nvPr/>
        </p:nvSpPr>
        <p:spPr>
          <a:xfrm>
            <a:off x="548640" y="4828032"/>
            <a:ext cx="5350860" cy="566928"/>
          </a:xfrm>
          <a:prstGeom prst="roundRect">
            <a:avLst>
              <a:gd name="adj" fmla="val 22000"/>
            </a:avLst>
          </a:prstGeom>
          <a:solidFill>
            <a:srgbClr val="111827"/>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4855464"/>
            <a:ext cx="76200" cy="512064"/>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2959" y="4956048"/>
            <a:ext cx="4802220" cy="329184"/>
          </a:xfrm>
          <a:prstGeom prst="rect">
            <a:avLst/>
          </a:prstGeom>
          <a:noFill/>
        </p:spPr>
        <p:txBody>
          <a:bodyPr wrap="square" lIns="0" rIns="0" tIns="0" bIns="0">
            <a:spAutoFit/>
          </a:bodyPr>
          <a:lstStyle/>
          <a:p>
            <a:pPr algn="l"/>
            <a:r>
              <a:rPr sz="1800" b="1">
                <a:solidFill>
                  <a:srgbClr val="F8FAFC"/>
                </a:solidFill>
                <a:latin typeface="Segoe UI"/>
              </a:rPr>
              <a:t>45,030,932</a:t>
            </a:r>
            <a:r>
              <a:rPr sz="1800" b="0">
                <a:solidFill>
                  <a:srgbClr val="A7B0C0"/>
                </a:solidFill>
                <a:latin typeface="Segoe UI"/>
              </a:rPr>
              <a:t>   clean Silver rows</a:t>
            </a:r>
          </a:p>
        </p:txBody>
      </p:sp>
      <p:sp>
        <p:nvSpPr>
          <p:cNvPr id="26" name="TextBox 25"/>
          <p:cNvSpPr txBox="1"/>
          <p:nvPr/>
        </p:nvSpPr>
        <p:spPr>
          <a:xfrm>
            <a:off x="6173820" y="4956048"/>
            <a:ext cx="5469234" cy="329184"/>
          </a:xfrm>
          <a:prstGeom prst="rect">
            <a:avLst/>
          </a:prstGeom>
          <a:noFill/>
        </p:spPr>
        <p:txBody>
          <a:bodyPr wrap="square" lIns="0" rIns="0" tIns="0" bIns="0">
            <a:spAutoFit/>
          </a:bodyPr>
          <a:lstStyle/>
          <a:p>
            <a:pPr algn="l"/>
            <a:r>
              <a:rPr sz="1500" b="0" i="0">
                <a:solidFill>
                  <a:srgbClr val="A7B0C0"/>
                </a:solidFill>
                <a:latin typeface="Segoe UI"/>
              </a:rPr>
              <a:t>51.8% removed by deduplication</a:t>
            </a:r>
          </a:p>
        </p:txBody>
      </p:sp>
      <p:sp>
        <p:nvSpPr>
          <p:cNvPr id="27"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28"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A78BFA"/>
                </a:solidFill>
                <a:latin typeface="Segoe UI"/>
              </a:rPr>
              <a:t>SILVER · PYSPARK</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Flatten to a defined grain, then clean</a:t>
            </a:r>
          </a:p>
        </p:txBody>
      </p:sp>
      <p:sp>
        <p:nvSpPr>
          <p:cNvPr id="5" name="Rounded Rectangle 4"/>
          <p:cNvSpPr/>
          <p:nvPr/>
        </p:nvSpPr>
        <p:spPr>
          <a:xfrm>
            <a:off x="548640" y="1517904"/>
            <a:ext cx="5989320" cy="768096"/>
          </a:xfrm>
          <a:prstGeom prst="roundRect">
            <a:avLst>
              <a:gd name="adj" fmla="val 180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45336"/>
            <a:ext cx="76200" cy="71323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1627631"/>
            <a:ext cx="5532120" cy="566928"/>
          </a:xfrm>
          <a:prstGeom prst="rect">
            <a:avLst/>
          </a:prstGeom>
          <a:noFill/>
        </p:spPr>
        <p:txBody>
          <a:bodyPr wrap="square" lIns="0" rIns="0" tIns="0" bIns="0">
            <a:spAutoFit/>
          </a:bodyPr>
          <a:lstStyle/>
          <a:p>
            <a:pPr algn="l">
              <a:spcAft>
                <a:spcPts val="200"/>
              </a:spcAft>
            </a:pPr>
            <a:r>
              <a:rPr sz="2100" b="1" i="0">
                <a:solidFill>
                  <a:srgbClr val="F8FAFC"/>
                </a:solidFill>
                <a:latin typeface="Segoe UI Semibold"/>
              </a:rPr>
              <a:t>93,366,638</a:t>
            </a:r>
          </a:p>
          <a:p>
            <a:pPr algn="l"/>
            <a:r>
              <a:rPr sz="1300" b="0" i="0">
                <a:solidFill>
                  <a:srgbClr val="A7B0C0"/>
                </a:solidFill>
                <a:latin typeface="Segoe UI"/>
              </a:rPr>
              <a:t>Flattened atomic rows</a:t>
            </a:r>
          </a:p>
        </p:txBody>
      </p:sp>
      <p:sp>
        <p:nvSpPr>
          <p:cNvPr id="8" name="Rounded Rectangle 7"/>
          <p:cNvSpPr/>
          <p:nvPr/>
        </p:nvSpPr>
        <p:spPr>
          <a:xfrm>
            <a:off x="548640" y="2432304"/>
            <a:ext cx="2971800" cy="768096"/>
          </a:xfrm>
          <a:prstGeom prst="roundRect">
            <a:avLst>
              <a:gd name="adj" fmla="val 180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2459736"/>
            <a:ext cx="76200" cy="71323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2542032"/>
            <a:ext cx="2514600" cy="566928"/>
          </a:xfrm>
          <a:prstGeom prst="rect">
            <a:avLst/>
          </a:prstGeom>
          <a:noFill/>
        </p:spPr>
        <p:txBody>
          <a:bodyPr wrap="square" lIns="0" rIns="0" tIns="0" bIns="0">
            <a:spAutoFit/>
          </a:bodyPr>
          <a:lstStyle/>
          <a:p>
            <a:pPr algn="l">
              <a:spcAft>
                <a:spcPts val="200"/>
              </a:spcAft>
            </a:pPr>
            <a:r>
              <a:rPr sz="2100" b="1" i="0">
                <a:solidFill>
                  <a:srgbClr val="F8FAFC"/>
                </a:solidFill>
                <a:latin typeface="Segoe UI Semibold"/>
              </a:rPr>
              <a:t>45,030,932</a:t>
            </a:r>
          </a:p>
          <a:p>
            <a:pPr algn="l"/>
            <a:r>
              <a:rPr sz="1300" b="0" i="0">
                <a:solidFill>
                  <a:srgbClr val="A7B0C0"/>
                </a:solidFill>
                <a:latin typeface="Segoe UI"/>
              </a:rPr>
              <a:t>Clean Silver rows</a:t>
            </a:r>
          </a:p>
        </p:txBody>
      </p:sp>
      <p:sp>
        <p:nvSpPr>
          <p:cNvPr id="11" name="Rounded Rectangle 10"/>
          <p:cNvSpPr/>
          <p:nvPr/>
        </p:nvSpPr>
        <p:spPr>
          <a:xfrm>
            <a:off x="548640" y="3346704"/>
            <a:ext cx="2971800" cy="768096"/>
          </a:xfrm>
          <a:prstGeom prst="roundRect">
            <a:avLst>
              <a:gd name="adj" fmla="val 180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48640" y="3374136"/>
            <a:ext cx="76200" cy="713232"/>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59" y="3456432"/>
            <a:ext cx="2514600" cy="566928"/>
          </a:xfrm>
          <a:prstGeom prst="rect">
            <a:avLst/>
          </a:prstGeom>
          <a:noFill/>
        </p:spPr>
        <p:txBody>
          <a:bodyPr wrap="square" lIns="0" rIns="0" tIns="0" bIns="0">
            <a:spAutoFit/>
          </a:bodyPr>
          <a:lstStyle/>
          <a:p>
            <a:pPr algn="l">
              <a:spcAft>
                <a:spcPts val="200"/>
              </a:spcAft>
            </a:pPr>
            <a:r>
              <a:rPr sz="2100" b="1" i="0">
                <a:solidFill>
                  <a:srgbClr val="F8FAFC"/>
                </a:solidFill>
                <a:latin typeface="Segoe UI Semibold"/>
              </a:rPr>
              <a:t>431,760</a:t>
            </a:r>
          </a:p>
          <a:p>
            <a:pPr algn="l"/>
            <a:r>
              <a:rPr sz="1300" b="0" i="0">
                <a:solidFill>
                  <a:srgbClr val="A7B0C0"/>
                </a:solidFill>
                <a:latin typeface="Segoe UI"/>
              </a:rPr>
              <a:t>Quarantined, not deleted</a:t>
            </a:r>
          </a:p>
        </p:txBody>
      </p:sp>
      <p:sp>
        <p:nvSpPr>
          <p:cNvPr id="14" name="Rounded Rectangle 13"/>
          <p:cNvSpPr/>
          <p:nvPr/>
        </p:nvSpPr>
        <p:spPr>
          <a:xfrm>
            <a:off x="548640" y="4261104"/>
            <a:ext cx="2971800" cy="768096"/>
          </a:xfrm>
          <a:prstGeom prst="roundRect">
            <a:avLst>
              <a:gd name="adj" fmla="val 180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48640" y="4288536"/>
            <a:ext cx="76200" cy="713232"/>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4370832"/>
            <a:ext cx="2514600" cy="566928"/>
          </a:xfrm>
          <a:prstGeom prst="rect">
            <a:avLst/>
          </a:prstGeom>
          <a:noFill/>
        </p:spPr>
        <p:txBody>
          <a:bodyPr wrap="square" lIns="0" rIns="0" tIns="0" bIns="0">
            <a:spAutoFit/>
          </a:bodyPr>
          <a:lstStyle/>
          <a:p>
            <a:pPr algn="l">
              <a:spcAft>
                <a:spcPts val="200"/>
              </a:spcAft>
            </a:pPr>
            <a:r>
              <a:rPr sz="2100" b="1" i="0">
                <a:solidFill>
                  <a:srgbClr val="F8FAFC"/>
                </a:solidFill>
                <a:latin typeface="Segoe UI Semibold"/>
              </a:rPr>
              <a:t>0</a:t>
            </a:r>
          </a:p>
          <a:p>
            <a:pPr algn="l"/>
            <a:r>
              <a:rPr sz="1300" b="0" i="0">
                <a:solidFill>
                  <a:srgbClr val="A7B0C0"/>
                </a:solidFill>
                <a:latin typeface="Segoe UI"/>
              </a:rPr>
              <a:t>Null reactions remaining</a:t>
            </a:r>
          </a:p>
        </p:txBody>
      </p:sp>
      <p:sp>
        <p:nvSpPr>
          <p:cNvPr id="17" name="TextBox 16"/>
          <p:cNvSpPr txBox="1"/>
          <p:nvPr/>
        </p:nvSpPr>
        <p:spPr>
          <a:xfrm>
            <a:off x="548640" y="5230368"/>
            <a:ext cx="6035040" cy="310896"/>
          </a:xfrm>
          <a:prstGeom prst="rect">
            <a:avLst/>
          </a:prstGeom>
          <a:noFill/>
        </p:spPr>
        <p:txBody>
          <a:bodyPr wrap="square" lIns="0" rIns="0" tIns="0" bIns="0">
            <a:spAutoFit/>
          </a:bodyPr>
          <a:lstStyle/>
          <a:p>
            <a:pPr algn="l"/>
            <a:r>
              <a:rPr sz="1400" b="0" i="0">
                <a:solidFill>
                  <a:srgbClr val="A7B0C0"/>
                </a:solidFill>
                <a:latin typeface="Segoe UI"/>
              </a:rPr>
              <a:t>The quarantined rows come mostly from 3 broken mega-reports.</a:t>
            </a:r>
          </a:p>
        </p:txBody>
      </p:sp>
      <p:sp>
        <p:nvSpPr>
          <p:cNvPr id="18" name="Rounded Rectangle 17"/>
          <p:cNvSpPr/>
          <p:nvPr/>
        </p:nvSpPr>
        <p:spPr>
          <a:xfrm>
            <a:off x="6903720" y="1517904"/>
            <a:ext cx="4739335" cy="160934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903720" y="1545336"/>
            <a:ext cx="76200" cy="15544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96328" y="1755648"/>
            <a:ext cx="4208983" cy="1188720"/>
          </a:xfrm>
          <a:prstGeom prst="rect">
            <a:avLst/>
          </a:prstGeom>
          <a:noFill/>
        </p:spPr>
        <p:txBody>
          <a:bodyPr wrap="square" lIns="0" rIns="0" tIns="0" bIns="0">
            <a:spAutoFit/>
          </a:bodyPr>
          <a:lstStyle/>
          <a:p>
            <a:pPr algn="l">
              <a:spcAft>
                <a:spcPts val="800"/>
              </a:spcAft>
            </a:pPr>
            <a:r>
              <a:rPr sz="2000" b="1" i="0">
                <a:solidFill>
                  <a:srgbClr val="F8FAFC"/>
                </a:solidFill>
                <a:latin typeface="Segoe UI Semibold"/>
              </a:rPr>
              <a:t>The grain</a:t>
            </a:r>
          </a:p>
          <a:p>
            <a:pPr algn="l">
              <a:lnSpc>
                <a:spcPct val="116000"/>
              </a:lnSpc>
            </a:pPr>
            <a:r>
              <a:rPr sz="1500" b="0" i="0">
                <a:solidFill>
                  <a:srgbClr val="A7B0C0"/>
                </a:solidFill>
                <a:latin typeface="Segoe UI"/>
              </a:rPr>
              <a:t>One row = one case, one resolved drug, one drug characterisation, one reaction.</a:t>
            </a:r>
          </a:p>
        </p:txBody>
      </p:sp>
      <p:sp>
        <p:nvSpPr>
          <p:cNvPr id="21" name="Rounded Rectangle 20"/>
          <p:cNvSpPr/>
          <p:nvPr/>
        </p:nvSpPr>
        <p:spPr>
          <a:xfrm>
            <a:off x="6903720" y="3273552"/>
            <a:ext cx="4739335" cy="1773936"/>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903720" y="3300984"/>
            <a:ext cx="76200" cy="171907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196328" y="3511296"/>
            <a:ext cx="4208983" cy="1371600"/>
          </a:xfrm>
          <a:prstGeom prst="rect">
            <a:avLst/>
          </a:prstGeom>
          <a:noFill/>
        </p:spPr>
        <p:txBody>
          <a:bodyPr wrap="square" lIns="0" rIns="0" tIns="0" bIns="0">
            <a:spAutoFit/>
          </a:bodyPr>
          <a:lstStyle/>
          <a:p>
            <a:pPr algn="l">
              <a:spcAft>
                <a:spcPts val="800"/>
              </a:spcAft>
            </a:pPr>
            <a:r>
              <a:rPr sz="2000" b="1" i="0">
                <a:solidFill>
                  <a:srgbClr val="F8FAFC"/>
                </a:solidFill>
                <a:latin typeface="Segoe UI Semibold"/>
              </a:rPr>
              <a:t>Why deduplicate after flattening</a:t>
            </a:r>
          </a:p>
          <a:p>
            <a:pPr algn="l">
              <a:lnSpc>
                <a:spcPct val="116000"/>
              </a:lnSpc>
            </a:pPr>
            <a:r>
              <a:rPr sz="1500" b="0" i="0">
                <a:solidFill>
                  <a:srgbClr val="A7B0C0"/>
                </a:solidFill>
                <a:latin typeface="Segoe UI"/>
              </a:rPr>
              <a:t>A repeat only becomes visible at the atomic grain — one report lists the same drug on several dosage lines, and those must count once.</a:t>
            </a:r>
          </a:p>
        </p:txBody>
      </p:sp>
      <p:pic>
        <p:nvPicPr>
          <p:cNvPr id="24" name="Picture 23" descr="apachespark.png"/>
          <p:cNvPicPr>
            <a:picLocks noChangeAspect="1"/>
          </p:cNvPicPr>
          <p:nvPr/>
        </p:nvPicPr>
        <p:blipFill>
          <a:blip r:embed="rId2"/>
          <a:stretch>
            <a:fillRect/>
          </a:stretch>
        </p:blipFill>
        <p:spPr>
          <a:xfrm>
            <a:off x="7196328" y="5230368"/>
            <a:ext cx="292608" cy="292608"/>
          </a:xfrm>
          <a:prstGeom prst="rect">
            <a:avLst/>
          </a:prstGeom>
        </p:spPr>
      </p:pic>
      <p:sp>
        <p:nvSpPr>
          <p:cNvPr id="25" name="TextBox 24"/>
          <p:cNvSpPr txBox="1"/>
          <p:nvPr/>
        </p:nvSpPr>
        <p:spPr>
          <a:xfrm>
            <a:off x="7616952" y="5257800"/>
            <a:ext cx="4026103" cy="274320"/>
          </a:xfrm>
          <a:prstGeom prst="rect">
            <a:avLst/>
          </a:prstGeom>
          <a:noFill/>
        </p:spPr>
        <p:txBody>
          <a:bodyPr wrap="square" lIns="0" rIns="0" tIns="0" bIns="0">
            <a:spAutoFit/>
          </a:bodyPr>
          <a:lstStyle/>
          <a:p>
            <a:pPr algn="l"/>
            <a:r>
              <a:rPr sz="1400" b="0" i="0">
                <a:solidFill>
                  <a:srgbClr val="A7B0C0"/>
                </a:solidFill>
                <a:latin typeface="Segoe UI"/>
              </a:rPr>
              <a:t>Drug names resolved in Silver: 78.46%</a:t>
            </a:r>
          </a:p>
        </p:txBody>
      </p:sp>
      <p:sp>
        <p:nvSpPr>
          <p:cNvPr id="26"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27"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38BDF8"/>
                </a:solidFill>
                <a:latin typeface="Segoe UI"/>
              </a:rPr>
              <a:t>WAREHOUSE · SNOWFLAKE + DBT</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Four layers, one definition of every metric</a:t>
            </a:r>
          </a:p>
        </p:txBody>
      </p:sp>
      <p:sp>
        <p:nvSpPr>
          <p:cNvPr id="5" name="Rounded Rectangle 4"/>
          <p:cNvSpPr/>
          <p:nvPr/>
        </p:nvSpPr>
        <p:spPr>
          <a:xfrm>
            <a:off x="548640" y="1536192"/>
            <a:ext cx="2485567" cy="2907792"/>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63624"/>
            <a:ext cx="76200" cy="285292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1773936"/>
            <a:ext cx="1991791" cy="2468880"/>
          </a:xfrm>
          <a:prstGeom prst="rect">
            <a:avLst/>
          </a:prstGeom>
          <a:noFill/>
        </p:spPr>
        <p:txBody>
          <a:bodyPr wrap="square" lIns="0" rIns="0" tIns="0" bIns="0">
            <a:spAutoFit/>
          </a:bodyPr>
          <a:lstStyle/>
          <a:p>
            <a:pPr algn="l">
              <a:spcAft>
                <a:spcPts val="600"/>
              </a:spcAft>
            </a:pPr>
            <a:r>
              <a:rPr sz="1300" b="1" i="0" spc="140">
                <a:solidFill>
                  <a:srgbClr val="38BDF8"/>
                </a:solidFill>
                <a:latin typeface="Segoe UI"/>
              </a:rPr>
              <a:t>STAGING</a:t>
            </a:r>
          </a:p>
          <a:p>
            <a:pPr algn="l">
              <a:lnSpc>
                <a:spcPct val="110000"/>
              </a:lnSpc>
              <a:spcAft>
                <a:spcPts val="1200"/>
              </a:spcAft>
            </a:pPr>
            <a:r>
              <a:rPr sz="1700" b="1" i="0">
                <a:solidFill>
                  <a:srgbClr val="F8FAFC"/>
                </a:solidFill>
                <a:latin typeface="Segoe UI Semibold"/>
              </a:rPr>
              <a:t>Clean views over RAW</a:t>
            </a:r>
          </a:p>
          <a:p>
            <a:pPr algn="l">
              <a:lnSpc>
                <a:spcPct val="112000"/>
              </a:lnSpc>
              <a:spcAft>
                <a:spcPts val="700"/>
              </a:spcAft>
            </a:pPr>
            <a:r>
              <a:rPr sz="1300" b="0" i="0">
                <a:solidFill>
                  <a:srgbClr val="A7B0C0"/>
                </a:solidFill>
                <a:latin typeface="Segoe UI"/>
              </a:rPr>
              <a:t>stg_drug_event</a:t>
            </a:r>
          </a:p>
          <a:p>
            <a:pPr algn="l">
              <a:lnSpc>
                <a:spcPct val="112000"/>
              </a:lnSpc>
              <a:spcAft>
                <a:spcPts val="700"/>
              </a:spcAft>
            </a:pPr>
            <a:r>
              <a:rPr sz="1300" b="0" i="0">
                <a:solidFill>
                  <a:srgbClr val="A7B0C0"/>
                </a:solidFill>
                <a:latin typeface="Segoe UI"/>
              </a:rPr>
              <a:t>stg_drug_ndc</a:t>
            </a:r>
          </a:p>
        </p:txBody>
      </p:sp>
      <p:sp>
        <p:nvSpPr>
          <p:cNvPr id="8" name="Right Arrow 7"/>
          <p:cNvSpPr/>
          <p:nvPr/>
        </p:nvSpPr>
        <p:spPr>
          <a:xfrm>
            <a:off x="3116503" y="2852928"/>
            <a:ext cx="219456" cy="274320"/>
          </a:xfrm>
          <a:prstGeom prst="rightArrow">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418255" y="1536192"/>
            <a:ext cx="2485567" cy="2907792"/>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418255" y="1563624"/>
            <a:ext cx="76200" cy="285292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92575" y="1773936"/>
            <a:ext cx="1991791" cy="2468880"/>
          </a:xfrm>
          <a:prstGeom prst="rect">
            <a:avLst/>
          </a:prstGeom>
          <a:noFill/>
        </p:spPr>
        <p:txBody>
          <a:bodyPr wrap="square" lIns="0" rIns="0" tIns="0" bIns="0">
            <a:spAutoFit/>
          </a:bodyPr>
          <a:lstStyle/>
          <a:p>
            <a:pPr algn="l">
              <a:spcAft>
                <a:spcPts val="600"/>
              </a:spcAft>
            </a:pPr>
            <a:r>
              <a:rPr sz="1300" b="1" i="0" spc="140">
                <a:solidFill>
                  <a:srgbClr val="38BDF8"/>
                </a:solidFill>
                <a:latin typeface="Segoe UI"/>
              </a:rPr>
              <a:t>INTERMEDIATE</a:t>
            </a:r>
          </a:p>
          <a:p>
            <a:pPr algn="l">
              <a:lnSpc>
                <a:spcPct val="110000"/>
              </a:lnSpc>
              <a:spcAft>
                <a:spcPts val="1200"/>
              </a:spcAft>
            </a:pPr>
            <a:r>
              <a:rPr sz="1700" b="1" i="0">
                <a:solidFill>
                  <a:srgbClr val="F8FAFC"/>
                </a:solidFill>
                <a:latin typeface="Segoe UI Semibold"/>
              </a:rPr>
              <a:t>Exact drug resolution</a:t>
            </a:r>
          </a:p>
          <a:p>
            <a:pPr algn="l">
              <a:lnSpc>
                <a:spcPct val="112000"/>
              </a:lnSpc>
              <a:spcAft>
                <a:spcPts val="700"/>
              </a:spcAft>
            </a:pPr>
            <a:r>
              <a:rPr sz="1300" b="0" i="0">
                <a:solidFill>
                  <a:srgbClr val="A7B0C0"/>
                </a:solidFill>
                <a:latin typeface="Segoe UI"/>
              </a:rPr>
              <a:t>int_drug_resolution</a:t>
            </a:r>
          </a:p>
          <a:p>
            <a:pPr algn="l">
              <a:lnSpc>
                <a:spcPct val="112000"/>
              </a:lnSpc>
              <a:spcAft>
                <a:spcPts val="700"/>
              </a:spcAft>
            </a:pPr>
            <a:r>
              <a:rPr sz="1300" b="0" i="0">
                <a:solidFill>
                  <a:srgbClr val="A7B0C0"/>
                </a:solidFill>
                <a:latin typeface="Segoe UI"/>
              </a:rPr>
              <a:t>84,039 signatures</a:t>
            </a:r>
          </a:p>
          <a:p>
            <a:pPr algn="l">
              <a:lnSpc>
                <a:spcPct val="112000"/>
              </a:lnSpc>
              <a:spcAft>
                <a:spcPts val="700"/>
              </a:spcAft>
            </a:pPr>
            <a:r>
              <a:rPr sz="1300" b="0" i="0">
                <a:solidFill>
                  <a:srgbClr val="A7B0C0"/>
                </a:solidFill>
                <a:latin typeface="Segoe UI"/>
              </a:rPr>
              <a:t>86.7% of rows resolved</a:t>
            </a:r>
          </a:p>
        </p:txBody>
      </p:sp>
      <p:sp>
        <p:nvSpPr>
          <p:cNvPr id="12" name="Right Arrow 11"/>
          <p:cNvSpPr/>
          <p:nvPr/>
        </p:nvSpPr>
        <p:spPr>
          <a:xfrm>
            <a:off x="5986119" y="2852928"/>
            <a:ext cx="219456" cy="274320"/>
          </a:xfrm>
          <a:prstGeom prst="rightArrow">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287871" y="1536192"/>
            <a:ext cx="2485567" cy="2907792"/>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87871" y="1563624"/>
            <a:ext cx="76200" cy="285292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62191" y="1773936"/>
            <a:ext cx="1991791" cy="2468880"/>
          </a:xfrm>
          <a:prstGeom prst="rect">
            <a:avLst/>
          </a:prstGeom>
          <a:noFill/>
        </p:spPr>
        <p:txBody>
          <a:bodyPr wrap="square" lIns="0" rIns="0" tIns="0" bIns="0">
            <a:spAutoFit/>
          </a:bodyPr>
          <a:lstStyle/>
          <a:p>
            <a:pPr algn="l">
              <a:spcAft>
                <a:spcPts val="600"/>
              </a:spcAft>
            </a:pPr>
            <a:r>
              <a:rPr sz="1300" b="1" i="0" spc="140">
                <a:solidFill>
                  <a:srgbClr val="38BDF8"/>
                </a:solidFill>
                <a:latin typeface="Segoe UI"/>
              </a:rPr>
              <a:t>MARTS</a:t>
            </a:r>
          </a:p>
          <a:p>
            <a:pPr algn="l">
              <a:lnSpc>
                <a:spcPct val="110000"/>
              </a:lnSpc>
              <a:spcAft>
                <a:spcPts val="1200"/>
              </a:spcAft>
            </a:pPr>
            <a:r>
              <a:rPr sz="1700" b="1" i="0">
                <a:solidFill>
                  <a:srgbClr val="F8FAFC"/>
                </a:solidFill>
                <a:latin typeface="Segoe UI Semibold"/>
              </a:rPr>
              <a:t>Star schema</a:t>
            </a:r>
          </a:p>
          <a:p>
            <a:pPr algn="l">
              <a:lnSpc>
                <a:spcPct val="112000"/>
              </a:lnSpc>
              <a:spcAft>
                <a:spcPts val="700"/>
              </a:spcAft>
            </a:pPr>
            <a:r>
              <a:rPr sz="1300" b="0" i="0">
                <a:solidFill>
                  <a:srgbClr val="A7B0C0"/>
                </a:solidFill>
                <a:latin typeface="Segoe UI"/>
              </a:rPr>
              <a:t>dim_drug 4,368</a:t>
            </a:r>
          </a:p>
          <a:p>
            <a:pPr algn="l">
              <a:lnSpc>
                <a:spcPct val="112000"/>
              </a:lnSpc>
              <a:spcAft>
                <a:spcPts val="700"/>
              </a:spcAft>
            </a:pPr>
            <a:r>
              <a:rPr sz="1300" b="0" i="0">
                <a:solidFill>
                  <a:srgbClr val="A7B0C0"/>
                </a:solidFill>
                <a:latin typeface="Segoe UI"/>
              </a:rPr>
              <a:t>dim_reaction 18,057</a:t>
            </a:r>
          </a:p>
          <a:p>
            <a:pPr algn="l">
              <a:lnSpc>
                <a:spcPct val="112000"/>
              </a:lnSpc>
              <a:spcAft>
                <a:spcPts val="700"/>
              </a:spcAft>
            </a:pPr>
            <a:r>
              <a:rPr sz="1300" b="0" i="0">
                <a:solidFill>
                  <a:srgbClr val="A7B0C0"/>
                </a:solidFill>
                <a:latin typeface="Segoe UI"/>
              </a:rPr>
              <a:t>dim_reporter 726 · dim_date 731</a:t>
            </a:r>
          </a:p>
          <a:p>
            <a:pPr algn="l">
              <a:lnSpc>
                <a:spcPct val="112000"/>
              </a:lnSpc>
              <a:spcAft>
                <a:spcPts val="700"/>
              </a:spcAft>
            </a:pPr>
            <a:r>
              <a:rPr sz="1300" b="0" i="0">
                <a:solidFill>
                  <a:srgbClr val="A7B0C0"/>
                </a:solidFill>
                <a:latin typeface="Segoe UI"/>
              </a:rPr>
              <a:t>fct_report_drug_reaction 45,030,932</a:t>
            </a:r>
          </a:p>
        </p:txBody>
      </p:sp>
      <p:sp>
        <p:nvSpPr>
          <p:cNvPr id="16" name="Right Arrow 15"/>
          <p:cNvSpPr/>
          <p:nvPr/>
        </p:nvSpPr>
        <p:spPr>
          <a:xfrm>
            <a:off x="8855735" y="2852928"/>
            <a:ext cx="219456" cy="274320"/>
          </a:xfrm>
          <a:prstGeom prst="rightArrow">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9157487" y="1536192"/>
            <a:ext cx="2485567" cy="2907792"/>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157487" y="1563624"/>
            <a:ext cx="76200" cy="2852928"/>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31807" y="1773936"/>
            <a:ext cx="1991791" cy="2468880"/>
          </a:xfrm>
          <a:prstGeom prst="rect">
            <a:avLst/>
          </a:prstGeom>
          <a:noFill/>
        </p:spPr>
        <p:txBody>
          <a:bodyPr wrap="square" lIns="0" rIns="0" tIns="0" bIns="0">
            <a:spAutoFit/>
          </a:bodyPr>
          <a:lstStyle/>
          <a:p>
            <a:pPr algn="l">
              <a:spcAft>
                <a:spcPts val="600"/>
              </a:spcAft>
            </a:pPr>
            <a:r>
              <a:rPr sz="1300" b="1" i="0" spc="140">
                <a:solidFill>
                  <a:srgbClr val="38BDF8"/>
                </a:solidFill>
                <a:latin typeface="Segoe UI"/>
              </a:rPr>
              <a:t>SIGNAL METRICS</a:t>
            </a:r>
          </a:p>
          <a:p>
            <a:pPr algn="l">
              <a:lnSpc>
                <a:spcPct val="110000"/>
              </a:lnSpc>
              <a:spcAft>
                <a:spcPts val="1200"/>
              </a:spcAft>
            </a:pPr>
            <a:r>
              <a:rPr sz="1700" b="1" i="0">
                <a:solidFill>
                  <a:srgbClr val="F8FAFC"/>
                </a:solidFill>
                <a:latin typeface="Segoe UI Semibold"/>
              </a:rPr>
              <a:t>PRR / ROR per pair</a:t>
            </a:r>
          </a:p>
          <a:p>
            <a:pPr algn="l">
              <a:lnSpc>
                <a:spcPct val="112000"/>
              </a:lnSpc>
              <a:spcAft>
                <a:spcPts val="700"/>
              </a:spcAft>
            </a:pPr>
            <a:r>
              <a:rPr sz="1300" b="0" i="0">
                <a:solidFill>
                  <a:srgbClr val="A7B0C0"/>
                </a:solidFill>
                <a:latin typeface="Segoe UI"/>
              </a:rPr>
              <a:t>fct_signal_metrics 5,069,399 monthly</a:t>
            </a:r>
          </a:p>
          <a:p>
            <a:pPr algn="l">
              <a:lnSpc>
                <a:spcPct val="112000"/>
              </a:lnSpc>
              <a:spcAft>
                <a:spcPts val="700"/>
              </a:spcAft>
            </a:pPr>
            <a:r>
              <a:rPr sz="1300" b="0" i="0">
                <a:solidFill>
                  <a:srgbClr val="A7B0C0"/>
                </a:solidFill>
                <a:latin typeface="Segoe UI"/>
              </a:rPr>
              <a:t>sem_signal_metrics 1,240,645 all-time</a:t>
            </a:r>
          </a:p>
        </p:txBody>
      </p:sp>
      <p:pic>
        <p:nvPicPr>
          <p:cNvPr id="20" name="Picture 19" descr="snowflake.png"/>
          <p:cNvPicPr>
            <a:picLocks noChangeAspect="1"/>
          </p:cNvPicPr>
          <p:nvPr/>
        </p:nvPicPr>
        <p:blipFill>
          <a:blip r:embed="rId2"/>
          <a:stretch>
            <a:fillRect/>
          </a:stretch>
        </p:blipFill>
        <p:spPr>
          <a:xfrm>
            <a:off x="566928" y="4700016"/>
            <a:ext cx="310896" cy="310896"/>
          </a:xfrm>
          <a:prstGeom prst="rect">
            <a:avLst/>
          </a:prstGeom>
        </p:spPr>
      </p:pic>
      <p:pic>
        <p:nvPicPr>
          <p:cNvPr id="21" name="Picture 20" descr="dbt.png"/>
          <p:cNvPicPr>
            <a:picLocks noChangeAspect="1"/>
          </p:cNvPicPr>
          <p:nvPr/>
        </p:nvPicPr>
        <p:blipFill>
          <a:blip r:embed="rId3"/>
          <a:stretch>
            <a:fillRect/>
          </a:stretch>
        </p:blipFill>
        <p:spPr>
          <a:xfrm>
            <a:off x="969264" y="4700016"/>
            <a:ext cx="310896" cy="310896"/>
          </a:xfrm>
          <a:prstGeom prst="rect">
            <a:avLst/>
          </a:prstGeom>
        </p:spPr>
      </p:pic>
      <p:sp>
        <p:nvSpPr>
          <p:cNvPr id="22" name="Rounded Rectangle 21"/>
          <p:cNvSpPr/>
          <p:nvPr/>
        </p:nvSpPr>
        <p:spPr>
          <a:xfrm>
            <a:off x="1426464" y="4663440"/>
            <a:ext cx="10216591" cy="658368"/>
          </a:xfrm>
          <a:prstGeom prst="roundRect">
            <a:avLst>
              <a:gd name="adj" fmla="val 200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682495" y="4828032"/>
            <a:ext cx="9704527" cy="365760"/>
          </a:xfrm>
          <a:prstGeom prst="rect">
            <a:avLst/>
          </a:prstGeom>
          <a:noFill/>
        </p:spPr>
        <p:txBody>
          <a:bodyPr wrap="square" lIns="0" rIns="0" tIns="0" bIns="0">
            <a:spAutoFit/>
          </a:bodyPr>
          <a:lstStyle/>
          <a:p>
            <a:pPr algn="l"/>
            <a:r>
              <a:rPr sz="1500" b="1">
                <a:solidFill>
                  <a:srgbClr val="F8FAFC"/>
                </a:solidFill>
                <a:latin typeface="Segoe UI"/>
              </a:rPr>
              <a:t>10 models</a:t>
            </a:r>
            <a:r>
              <a:rPr sz="1500" b="0">
                <a:solidFill>
                  <a:srgbClr val="A7B0C0"/>
                </a:solidFill>
                <a:latin typeface="Segoe UI"/>
              </a:rPr>
              <a:t>  ·  </a:t>
            </a:r>
            <a:r>
              <a:rPr sz="1500" b="1">
                <a:solidFill>
                  <a:srgbClr val="F8FAFC"/>
                </a:solidFill>
                <a:latin typeface="Segoe UI"/>
              </a:rPr>
              <a:t>42 tests passing</a:t>
            </a:r>
            <a:r>
              <a:rPr sz="1500" b="0">
                <a:solidFill>
                  <a:srgbClr val="A7B0C0"/>
                </a:solidFill>
                <a:latin typeface="Segoe UI"/>
              </a:rPr>
              <a:t>  ·  </a:t>
            </a:r>
            <a:r>
              <a:rPr sz="1500" b="1">
                <a:solidFill>
                  <a:srgbClr val="F8FAFC"/>
                </a:solidFill>
                <a:latin typeface="Segoe UI"/>
              </a:rPr>
              <a:t>dbt build PASS=53, WARN=0, ERROR=0</a:t>
            </a:r>
            <a:r>
              <a:rPr sz="1500" b="0">
                <a:solidFill>
                  <a:srgbClr val="A7B0C0"/>
                </a:solidFill>
                <a:latin typeface="Segoe UI"/>
              </a:rPr>
              <a:t>   on DE_CAPSTONE_WH</a:t>
            </a:r>
          </a:p>
        </p:txBody>
      </p:sp>
      <p:sp>
        <p:nvSpPr>
          <p:cNvPr id="24"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25"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38BDF8"/>
                </a:solidFill>
                <a:latin typeface="Segoe UI"/>
              </a:rPr>
              <a:t>THE METRIC</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Disproportionality from four counts</a:t>
            </a:r>
          </a:p>
        </p:txBody>
      </p:sp>
      <p:sp>
        <p:nvSpPr>
          <p:cNvPr id="5" name="TextBox 4"/>
          <p:cNvSpPr txBox="1"/>
          <p:nvPr/>
        </p:nvSpPr>
        <p:spPr>
          <a:xfrm>
            <a:off x="2514600" y="1847088"/>
            <a:ext cx="1417320" cy="292608"/>
          </a:xfrm>
          <a:prstGeom prst="rect">
            <a:avLst/>
          </a:prstGeom>
          <a:noFill/>
        </p:spPr>
        <p:txBody>
          <a:bodyPr wrap="square" lIns="0" rIns="0" tIns="0" bIns="0">
            <a:spAutoFit/>
          </a:bodyPr>
          <a:lstStyle/>
          <a:p>
            <a:pPr algn="ctr"/>
            <a:r>
              <a:rPr sz="1400" b="1" i="0">
                <a:solidFill>
                  <a:srgbClr val="38BDF8"/>
                </a:solidFill>
                <a:latin typeface="Segoe UI"/>
              </a:rPr>
              <a:t>This reaction</a:t>
            </a:r>
          </a:p>
        </p:txBody>
      </p:sp>
      <p:sp>
        <p:nvSpPr>
          <p:cNvPr id="6" name="TextBox 5"/>
          <p:cNvSpPr txBox="1"/>
          <p:nvPr/>
        </p:nvSpPr>
        <p:spPr>
          <a:xfrm>
            <a:off x="4114799" y="1847088"/>
            <a:ext cx="1417320" cy="292608"/>
          </a:xfrm>
          <a:prstGeom prst="rect">
            <a:avLst/>
          </a:prstGeom>
          <a:noFill/>
        </p:spPr>
        <p:txBody>
          <a:bodyPr wrap="square" lIns="0" rIns="0" tIns="0" bIns="0">
            <a:spAutoFit/>
          </a:bodyPr>
          <a:lstStyle/>
          <a:p>
            <a:pPr algn="ctr"/>
            <a:r>
              <a:rPr sz="1400" b="1" i="0">
                <a:solidFill>
                  <a:srgbClr val="38BDF8"/>
                </a:solidFill>
                <a:latin typeface="Segoe UI"/>
              </a:rPr>
              <a:t>Other reactions</a:t>
            </a:r>
          </a:p>
        </p:txBody>
      </p:sp>
      <p:sp>
        <p:nvSpPr>
          <p:cNvPr id="7" name="TextBox 6"/>
          <p:cNvSpPr txBox="1"/>
          <p:nvPr/>
        </p:nvSpPr>
        <p:spPr>
          <a:xfrm>
            <a:off x="548640" y="2670048"/>
            <a:ext cx="1728216" cy="329184"/>
          </a:xfrm>
          <a:prstGeom prst="rect">
            <a:avLst/>
          </a:prstGeom>
          <a:noFill/>
        </p:spPr>
        <p:txBody>
          <a:bodyPr wrap="square" lIns="0" rIns="0" tIns="0" bIns="0">
            <a:spAutoFit/>
          </a:bodyPr>
          <a:lstStyle/>
          <a:p>
            <a:pPr algn="r"/>
            <a:r>
              <a:rPr sz="1500" b="0" i="0">
                <a:solidFill>
                  <a:srgbClr val="A7B0C0"/>
                </a:solidFill>
                <a:latin typeface="Segoe UI"/>
              </a:rPr>
              <a:t>This drug</a:t>
            </a:r>
          </a:p>
        </p:txBody>
      </p:sp>
      <p:sp>
        <p:nvSpPr>
          <p:cNvPr id="8" name="Rounded Rectangle 7"/>
          <p:cNvSpPr/>
          <p:nvPr/>
        </p:nvSpPr>
        <p:spPr>
          <a:xfrm>
            <a:off x="2423160" y="2286000"/>
            <a:ext cx="1490472" cy="978407"/>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423160" y="2313432"/>
            <a:ext cx="76200" cy="923543"/>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32888" y="2487168"/>
            <a:ext cx="1271016" cy="658368"/>
          </a:xfrm>
          <a:prstGeom prst="rect">
            <a:avLst/>
          </a:prstGeom>
          <a:noFill/>
        </p:spPr>
        <p:txBody>
          <a:bodyPr wrap="square" lIns="0" rIns="0" tIns="0" bIns="0">
            <a:spAutoFit/>
          </a:bodyPr>
          <a:lstStyle/>
          <a:p>
            <a:pPr algn="ctr">
              <a:spcAft>
                <a:spcPts val="200"/>
              </a:spcAft>
            </a:pPr>
            <a:r>
              <a:rPr sz="3000" b="1" i="0">
                <a:solidFill>
                  <a:srgbClr val="FF8A1F"/>
                </a:solidFill>
                <a:latin typeface="Segoe UI Semibold"/>
              </a:rPr>
              <a:t>a</a:t>
            </a:r>
          </a:p>
          <a:p>
            <a:pPr algn="ctr"/>
            <a:r>
              <a:rPr sz="1300" b="0" i="0">
                <a:solidFill>
                  <a:srgbClr val="A7B0C0"/>
                </a:solidFill>
                <a:latin typeface="Segoe UI"/>
              </a:rPr>
              <a:t>5,571 cases</a:t>
            </a:r>
          </a:p>
        </p:txBody>
      </p:sp>
      <p:sp>
        <p:nvSpPr>
          <p:cNvPr id="11" name="Rounded Rectangle 10"/>
          <p:cNvSpPr/>
          <p:nvPr/>
        </p:nvSpPr>
        <p:spPr>
          <a:xfrm>
            <a:off x="4023360" y="2286000"/>
            <a:ext cx="1490472" cy="978407"/>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133088" y="2487168"/>
            <a:ext cx="1271016" cy="658368"/>
          </a:xfrm>
          <a:prstGeom prst="rect">
            <a:avLst/>
          </a:prstGeom>
          <a:noFill/>
        </p:spPr>
        <p:txBody>
          <a:bodyPr wrap="square" lIns="0" rIns="0" tIns="0" bIns="0">
            <a:spAutoFit/>
          </a:bodyPr>
          <a:lstStyle/>
          <a:p>
            <a:pPr algn="ctr">
              <a:spcAft>
                <a:spcPts val="200"/>
              </a:spcAft>
            </a:pPr>
            <a:r>
              <a:rPr sz="3000" b="1" i="0">
                <a:solidFill>
                  <a:srgbClr val="F8FAFC"/>
                </a:solidFill>
                <a:latin typeface="Segoe UI Semibold"/>
              </a:rPr>
              <a:t>b</a:t>
            </a:r>
          </a:p>
        </p:txBody>
      </p:sp>
      <p:sp>
        <p:nvSpPr>
          <p:cNvPr id="13" name="TextBox 12"/>
          <p:cNvSpPr txBox="1"/>
          <p:nvPr/>
        </p:nvSpPr>
        <p:spPr>
          <a:xfrm>
            <a:off x="548640" y="3758184"/>
            <a:ext cx="1728216" cy="329184"/>
          </a:xfrm>
          <a:prstGeom prst="rect">
            <a:avLst/>
          </a:prstGeom>
          <a:noFill/>
        </p:spPr>
        <p:txBody>
          <a:bodyPr wrap="square" lIns="0" rIns="0" tIns="0" bIns="0">
            <a:spAutoFit/>
          </a:bodyPr>
          <a:lstStyle/>
          <a:p>
            <a:pPr algn="r"/>
            <a:r>
              <a:rPr sz="1500" b="0" i="0">
                <a:solidFill>
                  <a:srgbClr val="A7B0C0"/>
                </a:solidFill>
                <a:latin typeface="Segoe UI"/>
              </a:rPr>
              <a:t>All other drugs</a:t>
            </a:r>
          </a:p>
        </p:txBody>
      </p:sp>
      <p:sp>
        <p:nvSpPr>
          <p:cNvPr id="14" name="Rounded Rectangle 13"/>
          <p:cNvSpPr/>
          <p:nvPr/>
        </p:nvSpPr>
        <p:spPr>
          <a:xfrm>
            <a:off x="2423160" y="3374136"/>
            <a:ext cx="1490472" cy="978407"/>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532888" y="3575304"/>
            <a:ext cx="1271016" cy="658368"/>
          </a:xfrm>
          <a:prstGeom prst="rect">
            <a:avLst/>
          </a:prstGeom>
          <a:noFill/>
        </p:spPr>
        <p:txBody>
          <a:bodyPr wrap="square" lIns="0" rIns="0" tIns="0" bIns="0">
            <a:spAutoFit/>
          </a:bodyPr>
          <a:lstStyle/>
          <a:p>
            <a:pPr algn="ctr">
              <a:spcAft>
                <a:spcPts val="200"/>
              </a:spcAft>
            </a:pPr>
            <a:r>
              <a:rPr sz="3000" b="1" i="0">
                <a:solidFill>
                  <a:srgbClr val="F8FAFC"/>
                </a:solidFill>
                <a:latin typeface="Segoe UI Semibold"/>
              </a:rPr>
              <a:t>c</a:t>
            </a:r>
          </a:p>
        </p:txBody>
      </p:sp>
      <p:sp>
        <p:nvSpPr>
          <p:cNvPr id="16" name="Rounded Rectangle 15"/>
          <p:cNvSpPr/>
          <p:nvPr/>
        </p:nvSpPr>
        <p:spPr>
          <a:xfrm>
            <a:off x="4023360" y="3374136"/>
            <a:ext cx="1490472" cy="978407"/>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133088" y="3575304"/>
            <a:ext cx="1271016" cy="658368"/>
          </a:xfrm>
          <a:prstGeom prst="rect">
            <a:avLst/>
          </a:prstGeom>
          <a:noFill/>
        </p:spPr>
        <p:txBody>
          <a:bodyPr wrap="square" lIns="0" rIns="0" tIns="0" bIns="0">
            <a:spAutoFit/>
          </a:bodyPr>
          <a:lstStyle/>
          <a:p>
            <a:pPr algn="ctr">
              <a:spcAft>
                <a:spcPts val="200"/>
              </a:spcAft>
            </a:pPr>
            <a:r>
              <a:rPr sz="3000" b="1" i="0">
                <a:solidFill>
                  <a:srgbClr val="F8FAFC"/>
                </a:solidFill>
                <a:latin typeface="Segoe UI Semibold"/>
              </a:rPr>
              <a:t>d</a:t>
            </a:r>
          </a:p>
        </p:txBody>
      </p:sp>
      <p:sp>
        <p:nvSpPr>
          <p:cNvPr id="18" name="TextBox 17"/>
          <p:cNvSpPr txBox="1"/>
          <p:nvPr/>
        </p:nvSpPr>
        <p:spPr>
          <a:xfrm>
            <a:off x="548640" y="4590288"/>
            <a:ext cx="5074920" cy="548640"/>
          </a:xfrm>
          <a:prstGeom prst="rect">
            <a:avLst/>
          </a:prstGeom>
          <a:noFill/>
        </p:spPr>
        <p:txBody>
          <a:bodyPr wrap="square" lIns="0" rIns="0" tIns="0" bIns="0">
            <a:spAutoFit/>
          </a:bodyPr>
          <a:lstStyle/>
          <a:p>
            <a:pPr algn="l">
              <a:lnSpc>
                <a:spcPct val="115000"/>
              </a:lnSpc>
            </a:pPr>
            <a:r>
              <a:rPr sz="1400" b="0" i="0">
                <a:solidFill>
                  <a:srgbClr val="A7B0C0"/>
                </a:solidFill>
                <a:latin typeface="Segoe UI"/>
              </a:rPr>
              <a:t>Counted over every report in the warehouse, for one drug and one reaction.</a:t>
            </a:r>
          </a:p>
        </p:txBody>
      </p:sp>
      <p:sp>
        <p:nvSpPr>
          <p:cNvPr id="19" name="Rounded Rectangle 18"/>
          <p:cNvSpPr/>
          <p:nvPr/>
        </p:nvSpPr>
        <p:spPr>
          <a:xfrm>
            <a:off x="5989320" y="1627632"/>
            <a:ext cx="5653735"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989320" y="1655064"/>
            <a:ext cx="76200"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81928" y="1773936"/>
            <a:ext cx="3246120" cy="548640"/>
          </a:xfrm>
          <a:prstGeom prst="rect">
            <a:avLst/>
          </a:prstGeom>
          <a:noFill/>
        </p:spPr>
        <p:txBody>
          <a:bodyPr wrap="square" lIns="0" rIns="0" tIns="0" bIns="0">
            <a:spAutoFit/>
          </a:bodyPr>
          <a:lstStyle/>
          <a:p>
            <a:pPr algn="l">
              <a:spcAft>
                <a:spcPts val="300"/>
              </a:spcAft>
            </a:pPr>
            <a:r>
              <a:rPr sz="1600" b="1" i="0">
                <a:solidFill>
                  <a:srgbClr val="F8FAFC"/>
                </a:solidFill>
                <a:latin typeface="Segoe UI"/>
              </a:rPr>
              <a:t>PRR</a:t>
            </a:r>
          </a:p>
          <a:p>
            <a:pPr algn="l"/>
            <a:r>
              <a:rPr sz="1300" b="0" i="0">
                <a:solidFill>
                  <a:srgbClr val="A7B0C0"/>
                </a:solidFill>
                <a:latin typeface="Segoe UI"/>
              </a:rPr>
              <a:t>( a / (a+b) )  ÷  ( c / (c+d) )</a:t>
            </a:r>
          </a:p>
        </p:txBody>
      </p:sp>
      <p:sp>
        <p:nvSpPr>
          <p:cNvPr id="22" name="TextBox 21"/>
          <p:cNvSpPr txBox="1"/>
          <p:nvPr/>
        </p:nvSpPr>
        <p:spPr>
          <a:xfrm>
            <a:off x="9646920" y="1828800"/>
            <a:ext cx="1703527" cy="420624"/>
          </a:xfrm>
          <a:prstGeom prst="rect">
            <a:avLst/>
          </a:prstGeom>
          <a:noFill/>
        </p:spPr>
        <p:txBody>
          <a:bodyPr wrap="square" lIns="0" rIns="0" tIns="0" bIns="0">
            <a:spAutoFit/>
          </a:bodyPr>
          <a:lstStyle/>
          <a:p>
            <a:pPr algn="r"/>
            <a:r>
              <a:rPr sz="2400" b="1" i="0">
                <a:solidFill>
                  <a:srgbClr val="FF8A1F"/>
                </a:solidFill>
                <a:latin typeface="Segoe UI Semibold"/>
              </a:rPr>
              <a:t>35.94</a:t>
            </a:r>
          </a:p>
        </p:txBody>
      </p:sp>
      <p:sp>
        <p:nvSpPr>
          <p:cNvPr id="23" name="Rounded Rectangle 22"/>
          <p:cNvSpPr/>
          <p:nvPr/>
        </p:nvSpPr>
        <p:spPr>
          <a:xfrm>
            <a:off x="5989320" y="2523744"/>
            <a:ext cx="5653735"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89320" y="2551175"/>
            <a:ext cx="76200"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81928" y="2670048"/>
            <a:ext cx="3246120" cy="548640"/>
          </a:xfrm>
          <a:prstGeom prst="rect">
            <a:avLst/>
          </a:prstGeom>
          <a:noFill/>
        </p:spPr>
        <p:txBody>
          <a:bodyPr wrap="square" lIns="0" rIns="0" tIns="0" bIns="0">
            <a:spAutoFit/>
          </a:bodyPr>
          <a:lstStyle/>
          <a:p>
            <a:pPr algn="l">
              <a:spcAft>
                <a:spcPts val="300"/>
              </a:spcAft>
            </a:pPr>
            <a:r>
              <a:rPr sz="1600" b="1" i="0">
                <a:solidFill>
                  <a:srgbClr val="F8FAFC"/>
                </a:solidFill>
                <a:latin typeface="Segoe UI"/>
              </a:rPr>
              <a:t>ROR</a:t>
            </a:r>
          </a:p>
          <a:p>
            <a:pPr algn="l"/>
            <a:r>
              <a:rPr sz="1300" b="0" i="0">
                <a:solidFill>
                  <a:srgbClr val="A7B0C0"/>
                </a:solidFill>
                <a:latin typeface="Segoe UI"/>
              </a:rPr>
              <a:t>( a × d )  ÷  ( b × c )</a:t>
            </a:r>
          </a:p>
        </p:txBody>
      </p:sp>
      <p:sp>
        <p:nvSpPr>
          <p:cNvPr id="26" name="TextBox 25"/>
          <p:cNvSpPr txBox="1"/>
          <p:nvPr/>
        </p:nvSpPr>
        <p:spPr>
          <a:xfrm>
            <a:off x="9646920" y="2724912"/>
            <a:ext cx="1703527" cy="420624"/>
          </a:xfrm>
          <a:prstGeom prst="rect">
            <a:avLst/>
          </a:prstGeom>
          <a:noFill/>
        </p:spPr>
        <p:txBody>
          <a:bodyPr wrap="square" lIns="0" rIns="0" tIns="0" bIns="0">
            <a:spAutoFit/>
          </a:bodyPr>
          <a:lstStyle/>
          <a:p>
            <a:pPr algn="r"/>
            <a:r>
              <a:rPr sz="2400" b="1" i="0">
                <a:solidFill>
                  <a:srgbClr val="FF8A1F"/>
                </a:solidFill>
                <a:latin typeface="Segoe UI Semibold"/>
              </a:rPr>
              <a:t>46.76</a:t>
            </a:r>
          </a:p>
        </p:txBody>
      </p:sp>
      <p:sp>
        <p:nvSpPr>
          <p:cNvPr id="27" name="Rounded Rectangle 26"/>
          <p:cNvSpPr/>
          <p:nvPr/>
        </p:nvSpPr>
        <p:spPr>
          <a:xfrm>
            <a:off x="5989320" y="3419856"/>
            <a:ext cx="5653735"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989320" y="3447287"/>
            <a:ext cx="76200"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81928" y="3566160"/>
            <a:ext cx="3246120" cy="548640"/>
          </a:xfrm>
          <a:prstGeom prst="rect">
            <a:avLst/>
          </a:prstGeom>
          <a:noFill/>
        </p:spPr>
        <p:txBody>
          <a:bodyPr wrap="square" lIns="0" rIns="0" tIns="0" bIns="0">
            <a:spAutoFit/>
          </a:bodyPr>
          <a:lstStyle/>
          <a:p>
            <a:pPr algn="l">
              <a:spcAft>
                <a:spcPts val="300"/>
              </a:spcAft>
            </a:pPr>
            <a:r>
              <a:rPr sz="1600" b="1" i="0">
                <a:solidFill>
                  <a:srgbClr val="F8FAFC"/>
                </a:solidFill>
                <a:latin typeface="Segoe UI"/>
              </a:rPr>
              <a:t>ROR-CI lower</a:t>
            </a:r>
          </a:p>
          <a:p>
            <a:pPr algn="l"/>
            <a:r>
              <a:rPr sz="1300" b="0" i="0">
                <a:solidFill>
                  <a:srgbClr val="A7B0C0"/>
                </a:solidFill>
                <a:latin typeface="Segoe UI"/>
              </a:rPr>
              <a:t>pessimistic edge of the ROR interval</a:t>
            </a:r>
          </a:p>
        </p:txBody>
      </p:sp>
      <p:sp>
        <p:nvSpPr>
          <p:cNvPr id="30" name="TextBox 29"/>
          <p:cNvSpPr txBox="1"/>
          <p:nvPr/>
        </p:nvSpPr>
        <p:spPr>
          <a:xfrm>
            <a:off x="9646920" y="3621024"/>
            <a:ext cx="1703527" cy="420624"/>
          </a:xfrm>
          <a:prstGeom prst="rect">
            <a:avLst/>
          </a:prstGeom>
          <a:noFill/>
        </p:spPr>
        <p:txBody>
          <a:bodyPr wrap="square" lIns="0" rIns="0" tIns="0" bIns="0">
            <a:spAutoFit/>
          </a:bodyPr>
          <a:lstStyle/>
          <a:p>
            <a:pPr algn="r"/>
            <a:r>
              <a:rPr sz="2400" b="1" i="0">
                <a:solidFill>
                  <a:srgbClr val="FF8A1F"/>
                </a:solidFill>
                <a:latin typeface="Segoe UI Semibold"/>
              </a:rPr>
              <a:t>45.21</a:t>
            </a:r>
          </a:p>
        </p:txBody>
      </p:sp>
      <p:sp>
        <p:nvSpPr>
          <p:cNvPr id="31" name="Rounded Rectangle 30"/>
          <p:cNvSpPr/>
          <p:nvPr/>
        </p:nvSpPr>
        <p:spPr>
          <a:xfrm>
            <a:off x="5989320" y="4315968"/>
            <a:ext cx="5653735"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5989320" y="4343400"/>
            <a:ext cx="76200" cy="73152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1928" y="4462272"/>
            <a:ext cx="3246120" cy="548640"/>
          </a:xfrm>
          <a:prstGeom prst="rect">
            <a:avLst/>
          </a:prstGeom>
          <a:noFill/>
        </p:spPr>
        <p:txBody>
          <a:bodyPr wrap="square" lIns="0" rIns="0" tIns="0" bIns="0">
            <a:spAutoFit/>
          </a:bodyPr>
          <a:lstStyle/>
          <a:p>
            <a:pPr algn="l">
              <a:spcAft>
                <a:spcPts val="300"/>
              </a:spcAft>
            </a:pPr>
            <a:r>
              <a:rPr sz="1600" b="1" i="0">
                <a:solidFill>
                  <a:srgbClr val="F8FAFC"/>
                </a:solidFill>
                <a:latin typeface="Segoe UI"/>
              </a:rPr>
              <a:t>chi-square</a:t>
            </a:r>
          </a:p>
          <a:p>
            <a:pPr algn="l"/>
            <a:r>
              <a:rPr sz="1300" b="0" i="0">
                <a:solidFill>
                  <a:srgbClr val="A7B0C0"/>
                </a:solidFill>
                <a:latin typeface="Segoe UI"/>
              </a:rPr>
              <a:t>Yates-corrected, from the same four counts</a:t>
            </a:r>
          </a:p>
        </p:txBody>
      </p:sp>
      <p:sp>
        <p:nvSpPr>
          <p:cNvPr id="34" name="TextBox 33"/>
          <p:cNvSpPr txBox="1"/>
          <p:nvPr/>
        </p:nvSpPr>
        <p:spPr>
          <a:xfrm>
            <a:off x="9646920" y="4517136"/>
            <a:ext cx="1703527" cy="420624"/>
          </a:xfrm>
          <a:prstGeom prst="rect">
            <a:avLst/>
          </a:prstGeom>
          <a:noFill/>
        </p:spPr>
        <p:txBody>
          <a:bodyPr wrap="square" lIns="0" rIns="0" tIns="0" bIns="0">
            <a:spAutoFit/>
          </a:bodyPr>
          <a:lstStyle/>
          <a:p>
            <a:pPr algn="r"/>
            <a:r>
              <a:rPr sz="2400" b="1" i="0">
                <a:solidFill>
                  <a:srgbClr val="FF8A1F"/>
                </a:solidFill>
                <a:latin typeface="Segoe UI Semibold"/>
              </a:rPr>
              <a:t>142,896</a:t>
            </a:r>
          </a:p>
        </p:txBody>
      </p:sp>
      <p:sp>
        <p:nvSpPr>
          <p:cNvPr id="35" name="TextBox 34"/>
          <p:cNvSpPr txBox="1"/>
          <p:nvPr/>
        </p:nvSpPr>
        <p:spPr>
          <a:xfrm>
            <a:off x="5989320" y="5266943"/>
            <a:ext cx="5653735" cy="548640"/>
          </a:xfrm>
          <a:prstGeom prst="rect">
            <a:avLst/>
          </a:prstGeom>
          <a:noFill/>
        </p:spPr>
        <p:txBody>
          <a:bodyPr wrap="square" lIns="0" rIns="0" tIns="0" bIns="0">
            <a:spAutoFit/>
          </a:bodyPr>
          <a:lstStyle/>
          <a:p>
            <a:pPr algn="l">
              <a:lnSpc>
                <a:spcPct val="115000"/>
              </a:lnSpc>
            </a:pPr>
            <a:r>
              <a:rPr sz="1400" b="0" i="0">
                <a:solidFill>
                  <a:srgbClr val="A7B0C0"/>
                </a:solidFill>
                <a:latin typeface="Segoe UI"/>
              </a:rPr>
              <a:t>Computed once in the dbt macros. The dashboard reads them and computes nothing, so one definition runs from warehouse to screen.</a:t>
            </a:r>
          </a:p>
        </p:txBody>
      </p:sp>
      <p:sp>
        <p:nvSpPr>
          <p:cNvPr id="36"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37"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FF8A1F"/>
                </a:solidFill>
                <a:latin typeface="Segoe UI"/>
              </a:rPr>
              <a:t>RESULT</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The strongest candidate in 24 months of data</a:t>
            </a:r>
          </a:p>
        </p:txBody>
      </p:sp>
      <p:pic>
        <p:nvPicPr>
          <p:cNvPr id="5" name="Picture 4" descr="dashboard_0_kpis.png"/>
          <p:cNvPicPr>
            <a:picLocks noChangeAspect="1"/>
          </p:cNvPicPr>
          <p:nvPr/>
        </p:nvPicPr>
        <p:blipFill>
          <a:blip r:embed="rId2"/>
          <a:stretch>
            <a:fillRect/>
          </a:stretch>
        </p:blipFill>
        <p:spPr>
          <a:xfrm>
            <a:off x="548640" y="1408176"/>
            <a:ext cx="11094415" cy="953884"/>
          </a:xfrm>
          <a:prstGeom prst="rect">
            <a:avLst/>
          </a:prstGeom>
        </p:spPr>
      </p:pic>
      <p:sp>
        <p:nvSpPr>
          <p:cNvPr id="6" name="imgborder"/>
          <p:cNvSpPr/>
          <p:nvPr/>
        </p:nvSpPr>
        <p:spPr>
          <a:xfrm>
            <a:off x="548640" y="1408176"/>
            <a:ext cx="11094415" cy="953884"/>
          </a:xfrm>
          <a:prstGeom prst="rect">
            <a:avLst/>
          </a:prstGeom>
          <a:no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dashboard_2_table.png"/>
          <p:cNvPicPr>
            <a:picLocks noChangeAspect="1"/>
          </p:cNvPicPr>
          <p:nvPr/>
        </p:nvPicPr>
        <p:blipFill>
          <a:blip r:embed="rId3"/>
          <a:stretch>
            <a:fillRect/>
          </a:stretch>
        </p:blipFill>
        <p:spPr>
          <a:xfrm>
            <a:off x="5790895" y="2563228"/>
            <a:ext cx="5852160" cy="3098903"/>
          </a:xfrm>
          <a:prstGeom prst="rect">
            <a:avLst/>
          </a:prstGeom>
        </p:spPr>
      </p:pic>
      <p:sp>
        <p:nvSpPr>
          <p:cNvPr id="8" name="imgborder"/>
          <p:cNvSpPr/>
          <p:nvPr/>
        </p:nvSpPr>
        <p:spPr>
          <a:xfrm>
            <a:off x="5790895" y="2563228"/>
            <a:ext cx="5852160" cy="3098903"/>
          </a:xfrm>
          <a:prstGeom prst="rect">
            <a:avLst/>
          </a:prstGeom>
          <a:no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2563228"/>
            <a:ext cx="4940503" cy="3098903"/>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48640" y="2590660"/>
            <a:ext cx="76200" cy="3044039"/>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9536" y="2764396"/>
            <a:ext cx="4373575" cy="2733143"/>
          </a:xfrm>
          <a:prstGeom prst="rect">
            <a:avLst/>
          </a:prstGeom>
          <a:noFill/>
        </p:spPr>
        <p:txBody>
          <a:bodyPr wrap="square" lIns="0" rIns="0" tIns="0" bIns="0">
            <a:spAutoFit/>
          </a:bodyPr>
          <a:lstStyle/>
          <a:p>
            <a:pPr algn="l">
              <a:spcAft>
                <a:spcPts val="200"/>
              </a:spcAft>
            </a:pPr>
            <a:r>
              <a:rPr sz="1900" b="1" i="0">
                <a:solidFill>
                  <a:srgbClr val="F8FAFC"/>
                </a:solidFill>
                <a:latin typeface="Segoe UI Semibold"/>
              </a:rPr>
              <a:t>clozapine → neutropenia</a:t>
            </a:r>
          </a:p>
          <a:p>
            <a:pPr algn="l">
              <a:spcAft>
                <a:spcPts val="200"/>
              </a:spcAft>
            </a:pPr>
            <a:r>
              <a:rPr sz="1200" b="0" i="0" spc="140">
                <a:solidFill>
                  <a:srgbClr val="A7B0C0"/>
                </a:solidFill>
                <a:latin typeface="Segoe UI"/>
              </a:rPr>
              <a:t>PROPORTIONAL REPORTING RATIO</a:t>
            </a:r>
          </a:p>
          <a:p>
            <a:pPr algn="l">
              <a:lnSpc>
                <a:spcPct val="100000"/>
              </a:lnSpc>
              <a:spcAft>
                <a:spcPts val="1000"/>
              </a:spcAft>
            </a:pPr>
            <a:r>
              <a:rPr sz="5800" b="1" i="0">
                <a:solidFill>
                  <a:srgbClr val="F8FAFC"/>
                </a:solidFill>
                <a:latin typeface="Segoe UI Semibold"/>
              </a:rPr>
              <a:t>35.94</a:t>
            </a:r>
          </a:p>
          <a:p>
            <a:pPr algn="l">
              <a:spcAft>
                <a:spcPts val="700"/>
              </a:spcAft>
            </a:pPr>
            <a:r>
              <a:rPr sz="1500" b="0">
                <a:solidFill>
                  <a:srgbClr val="A7B0C0"/>
                </a:solidFill>
                <a:latin typeface="Segoe UI"/>
              </a:rPr>
              <a:t>ROR   </a:t>
            </a:r>
            <a:r>
              <a:rPr sz="1500" b="1">
                <a:solidFill>
                  <a:srgbClr val="F8FAFC"/>
                </a:solidFill>
                <a:latin typeface="Segoe UI"/>
              </a:rPr>
              <a:t>46.76</a:t>
            </a:r>
          </a:p>
          <a:p>
            <a:pPr algn="l">
              <a:spcAft>
                <a:spcPts val="700"/>
              </a:spcAft>
            </a:pPr>
            <a:r>
              <a:rPr sz="1500" b="0">
                <a:solidFill>
                  <a:srgbClr val="A7B0C0"/>
                </a:solidFill>
                <a:latin typeface="Segoe UI"/>
              </a:rPr>
              <a:t>ROR-CI lower   </a:t>
            </a:r>
            <a:r>
              <a:rPr sz="1500" b="1">
                <a:solidFill>
                  <a:srgbClr val="F8FAFC"/>
                </a:solidFill>
                <a:latin typeface="Segoe UI"/>
              </a:rPr>
              <a:t>45.21</a:t>
            </a:r>
          </a:p>
          <a:p>
            <a:pPr algn="l">
              <a:spcAft>
                <a:spcPts val="700"/>
              </a:spcAft>
            </a:pPr>
            <a:r>
              <a:rPr sz="1500" b="0">
                <a:solidFill>
                  <a:srgbClr val="A7B0C0"/>
                </a:solidFill>
                <a:latin typeface="Segoe UI"/>
              </a:rPr>
              <a:t>chi-square   </a:t>
            </a:r>
            <a:r>
              <a:rPr sz="1500" b="1">
                <a:solidFill>
                  <a:srgbClr val="F8FAFC"/>
                </a:solidFill>
                <a:latin typeface="Segoe UI"/>
              </a:rPr>
              <a:t>142,896</a:t>
            </a:r>
          </a:p>
          <a:p>
            <a:pPr algn="l">
              <a:spcAft>
                <a:spcPts val="700"/>
              </a:spcAft>
            </a:pPr>
            <a:r>
              <a:rPr sz="1500" b="0">
                <a:solidFill>
                  <a:srgbClr val="A7B0C0"/>
                </a:solidFill>
                <a:latin typeface="Segoe UI"/>
              </a:rPr>
              <a:t>Cases (a)   </a:t>
            </a:r>
            <a:r>
              <a:rPr sz="1500" b="1">
                <a:solidFill>
                  <a:srgbClr val="F8FAFC"/>
                </a:solidFill>
                <a:latin typeface="Segoe UI"/>
              </a:rPr>
              <a:t>5,571</a:t>
            </a:r>
          </a:p>
        </p:txBody>
      </p:sp>
      <p:sp>
        <p:nvSpPr>
          <p:cNvPr id="12" name="TextBox 11"/>
          <p:cNvSpPr txBox="1"/>
          <p:nvPr/>
        </p:nvSpPr>
        <p:spPr>
          <a:xfrm>
            <a:off x="5790895" y="5753572"/>
            <a:ext cx="5852160" cy="274320"/>
          </a:xfrm>
          <a:prstGeom prst="rect">
            <a:avLst/>
          </a:prstGeom>
          <a:noFill/>
        </p:spPr>
        <p:txBody>
          <a:bodyPr wrap="square" lIns="0" rIns="0" tIns="0" bIns="0">
            <a:spAutoFit/>
          </a:bodyPr>
          <a:lstStyle/>
          <a:p>
            <a:pPr algn="l"/>
            <a:r>
              <a:rPr sz="1300" b="0" i="0">
                <a:solidFill>
                  <a:srgbClr val="A7B0C0"/>
                </a:solidFill>
                <a:latin typeface="Segoe UI"/>
              </a:rPr>
              <a:t>5,571 cases across 24 months · monthly counts sum back to 5,571</a:t>
            </a:r>
          </a:p>
        </p:txBody>
      </p:sp>
      <p:sp>
        <p:nvSpPr>
          <p:cNvPr id="13"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14"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F87171"/>
                </a:solidFill>
                <a:latin typeface="Segoe UI"/>
              </a:rPr>
              <a:t>READING IT HONESTLY</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Most of the largest ratios are artifacts</a:t>
            </a:r>
          </a:p>
        </p:txBody>
      </p:sp>
      <p:sp>
        <p:nvSpPr>
          <p:cNvPr id="5" name="Rounded Rectangle 4"/>
          <p:cNvSpPr/>
          <p:nvPr/>
        </p:nvSpPr>
        <p:spPr>
          <a:xfrm>
            <a:off x="548640" y="1517904"/>
            <a:ext cx="5382615" cy="12435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45336"/>
            <a:ext cx="76200" cy="118872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41247" y="1664207"/>
            <a:ext cx="4852263" cy="1005840"/>
          </a:xfrm>
          <a:prstGeom prst="rect">
            <a:avLst/>
          </a:prstGeom>
          <a:noFill/>
        </p:spPr>
        <p:txBody>
          <a:bodyPr wrap="square" lIns="0" rIns="0" tIns="0" bIns="0">
            <a:spAutoFit/>
          </a:bodyPr>
          <a:lstStyle/>
          <a:p>
            <a:pPr algn="l">
              <a:spcAft>
                <a:spcPts val="500"/>
              </a:spcAft>
            </a:pPr>
            <a:r>
              <a:rPr sz="1600" b="1">
                <a:solidFill>
                  <a:srgbClr val="F8FAFC"/>
                </a:solidFill>
                <a:latin typeface="Segoe UI"/>
              </a:rPr>
              <a:t>Confounding by indication</a:t>
            </a:r>
            <a:r>
              <a:rPr sz="1600" b="0">
                <a:solidFill>
                  <a:srgbClr val="F8FAFC"/>
                </a:solidFill>
                <a:latin typeface="Segoe UI"/>
              </a:rPr>
              <a:t>    </a:t>
            </a:r>
            <a:r>
              <a:rPr sz="1600" b="0">
                <a:solidFill>
                  <a:srgbClr val="F87171"/>
                </a:solidFill>
                <a:latin typeface="Segoe UI"/>
              </a:rPr>
              <a:t>nitrates → cardiospasm</a:t>
            </a:r>
          </a:p>
          <a:p>
            <a:pPr algn="l">
              <a:lnSpc>
                <a:spcPct val="112000"/>
              </a:lnSpc>
            </a:pPr>
            <a:r>
              <a:rPr sz="1400" b="0" i="0">
                <a:solidFill>
                  <a:srgbClr val="A7B0C0"/>
                </a:solidFill>
                <a:latin typeface="Segoe UI"/>
              </a:rPr>
              <a:t>The drug treats the very condition it is reported with.</a:t>
            </a:r>
          </a:p>
        </p:txBody>
      </p:sp>
      <p:sp>
        <p:nvSpPr>
          <p:cNvPr id="8" name="Rounded Rectangle 7"/>
          <p:cNvSpPr/>
          <p:nvPr/>
        </p:nvSpPr>
        <p:spPr>
          <a:xfrm>
            <a:off x="6260439" y="1517904"/>
            <a:ext cx="5382615" cy="12435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260439" y="1545336"/>
            <a:ext cx="76200" cy="118872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53047" y="1664207"/>
            <a:ext cx="4852263" cy="1005840"/>
          </a:xfrm>
          <a:prstGeom prst="rect">
            <a:avLst/>
          </a:prstGeom>
          <a:noFill/>
        </p:spPr>
        <p:txBody>
          <a:bodyPr wrap="square" lIns="0" rIns="0" tIns="0" bIns="0">
            <a:spAutoFit/>
          </a:bodyPr>
          <a:lstStyle/>
          <a:p>
            <a:pPr algn="l">
              <a:spcAft>
                <a:spcPts val="500"/>
              </a:spcAft>
            </a:pPr>
            <a:r>
              <a:rPr sz="1600" b="1">
                <a:solidFill>
                  <a:srgbClr val="F8FAFC"/>
                </a:solidFill>
                <a:latin typeface="Segoe UI"/>
              </a:rPr>
              <a:t>Device and product-use events</a:t>
            </a:r>
            <a:r>
              <a:rPr sz="1600" b="0">
                <a:solidFill>
                  <a:srgbClr val="F8FAFC"/>
                </a:solidFill>
                <a:latin typeface="Segoe UI"/>
              </a:rPr>
              <a:t>    </a:t>
            </a:r>
            <a:r>
              <a:rPr sz="1600" b="0">
                <a:solidFill>
                  <a:srgbClr val="F87171"/>
                </a:solidFill>
                <a:latin typeface="Segoe UI"/>
              </a:rPr>
              <a:t>copper → foreign body, reproductive tract</a:t>
            </a:r>
          </a:p>
          <a:p>
            <a:pPr algn="l">
              <a:lnSpc>
                <a:spcPct val="112000"/>
              </a:lnSpc>
            </a:pPr>
            <a:r>
              <a:rPr sz="1400" b="0" i="0">
                <a:solidFill>
                  <a:srgbClr val="A7B0C0"/>
                </a:solidFill>
                <a:latin typeface="Segoe UI"/>
              </a:rPr>
              <a:t>Implants and devices generate product reports in a drug dataset.</a:t>
            </a:r>
          </a:p>
        </p:txBody>
      </p:sp>
      <p:sp>
        <p:nvSpPr>
          <p:cNvPr id="11" name="Rounded Rectangle 10"/>
          <p:cNvSpPr/>
          <p:nvPr/>
        </p:nvSpPr>
        <p:spPr>
          <a:xfrm>
            <a:off x="548640" y="2889504"/>
            <a:ext cx="5382615" cy="12435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48640" y="2916936"/>
            <a:ext cx="76200" cy="118872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3035808"/>
            <a:ext cx="4852263" cy="1005840"/>
          </a:xfrm>
          <a:prstGeom prst="rect">
            <a:avLst/>
          </a:prstGeom>
          <a:noFill/>
        </p:spPr>
        <p:txBody>
          <a:bodyPr wrap="square" lIns="0" rIns="0" tIns="0" bIns="0">
            <a:spAutoFit/>
          </a:bodyPr>
          <a:lstStyle/>
          <a:p>
            <a:pPr algn="l">
              <a:spcAft>
                <a:spcPts val="500"/>
              </a:spcAft>
            </a:pPr>
            <a:r>
              <a:rPr sz="1600" b="1">
                <a:solidFill>
                  <a:srgbClr val="F8FAFC"/>
                </a:solidFill>
                <a:latin typeface="Segoe UI"/>
              </a:rPr>
              <a:t>Reporting bias</a:t>
            </a:r>
            <a:r>
              <a:rPr sz="1600" b="0">
                <a:solidFill>
                  <a:srgbClr val="F8FAFC"/>
                </a:solidFill>
                <a:latin typeface="Segoe UI"/>
              </a:rPr>
              <a:t>    </a:t>
            </a:r>
            <a:r>
              <a:rPr sz="1600" b="0">
                <a:solidFill>
                  <a:srgbClr val="F87171"/>
                </a:solidFill>
                <a:latin typeface="Segoe UI"/>
              </a:rPr>
              <a:t>talc → mesothelioma</a:t>
            </a:r>
          </a:p>
          <a:p>
            <a:pPr algn="l">
              <a:lnSpc>
                <a:spcPct val="112000"/>
              </a:lnSpc>
            </a:pPr>
            <a:r>
              <a:rPr sz="1400" b="0" i="0">
                <a:solidFill>
                  <a:srgbClr val="A7B0C0"/>
                </a:solidFill>
                <a:latin typeface="Segoe UI"/>
              </a:rPr>
              <a:t>Litigation-driven reporting inflates the ratio.</a:t>
            </a:r>
          </a:p>
        </p:txBody>
      </p:sp>
      <p:sp>
        <p:nvSpPr>
          <p:cNvPr id="14" name="Rounded Rectangle 13"/>
          <p:cNvSpPr/>
          <p:nvPr/>
        </p:nvSpPr>
        <p:spPr>
          <a:xfrm>
            <a:off x="6260439" y="2889504"/>
            <a:ext cx="5382615" cy="12435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260439" y="2916936"/>
            <a:ext cx="76200" cy="118872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53047" y="3035808"/>
            <a:ext cx="4852263" cy="1005840"/>
          </a:xfrm>
          <a:prstGeom prst="rect">
            <a:avLst/>
          </a:prstGeom>
          <a:noFill/>
        </p:spPr>
        <p:txBody>
          <a:bodyPr wrap="square" lIns="0" rIns="0" tIns="0" bIns="0">
            <a:spAutoFit/>
          </a:bodyPr>
          <a:lstStyle/>
          <a:p>
            <a:pPr algn="l">
              <a:spcAft>
                <a:spcPts val="500"/>
              </a:spcAft>
            </a:pPr>
            <a:r>
              <a:rPr sz="1600" b="1">
                <a:solidFill>
                  <a:srgbClr val="F8FAFC"/>
                </a:solidFill>
                <a:latin typeface="Segoe UI"/>
              </a:rPr>
              <a:t>Genuine finding</a:t>
            </a:r>
            <a:r>
              <a:rPr sz="1600" b="0">
                <a:solidFill>
                  <a:srgbClr val="F8FAFC"/>
                </a:solidFill>
                <a:latin typeface="Segoe UI"/>
              </a:rPr>
              <a:t>    </a:t>
            </a:r>
            <a:r>
              <a:rPr sz="1600" b="0">
                <a:solidFill>
                  <a:srgbClr val="22C55E"/>
                </a:solidFill>
                <a:latin typeface="Segoe UI"/>
              </a:rPr>
              <a:t>pentosan polysulfate → pigmentary maculopathy</a:t>
            </a:r>
          </a:p>
          <a:p>
            <a:pPr algn="l">
              <a:lnSpc>
                <a:spcPct val="112000"/>
              </a:lnSpc>
            </a:pPr>
            <a:r>
              <a:rPr sz="1400" b="0" i="0">
                <a:solidFill>
                  <a:srgbClr val="A7B0C0"/>
                </a:solidFill>
                <a:latin typeface="Segoe UI"/>
              </a:rPr>
              <a:t>A real signal that led to an FDA label change.</a:t>
            </a:r>
          </a:p>
        </p:txBody>
      </p:sp>
      <p:sp>
        <p:nvSpPr>
          <p:cNvPr id="17" name="Rounded Rectangle 16"/>
          <p:cNvSpPr/>
          <p:nvPr/>
        </p:nvSpPr>
        <p:spPr>
          <a:xfrm>
            <a:off x="548640" y="4279392"/>
            <a:ext cx="11094415" cy="694944"/>
          </a:xfrm>
          <a:prstGeom prst="roundRect">
            <a:avLst>
              <a:gd name="adj" fmla="val 200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8640" y="4306824"/>
            <a:ext cx="76200" cy="64008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59536" y="4443984"/>
            <a:ext cx="10527487" cy="402336"/>
          </a:xfrm>
          <a:prstGeom prst="rect">
            <a:avLst/>
          </a:prstGeom>
          <a:noFill/>
        </p:spPr>
        <p:txBody>
          <a:bodyPr wrap="square" lIns="0" rIns="0" tIns="0" bIns="0">
            <a:spAutoFit/>
          </a:bodyPr>
          <a:lstStyle/>
          <a:p>
            <a:pPr algn="l"/>
            <a:r>
              <a:rPr sz="1700" b="0">
                <a:solidFill>
                  <a:srgbClr val="A7B0C0"/>
                </a:solidFill>
                <a:latin typeface="Segoe UI"/>
              </a:rPr>
              <a:t>A stricter statistical threshold does not fix this — </a:t>
            </a:r>
            <a:r>
              <a:rPr sz="1700" b="1">
                <a:solidFill>
                  <a:srgbClr val="F8FAFC"/>
                </a:solidFill>
                <a:latin typeface="Segoe UI"/>
              </a:rPr>
              <a:t>the strict flag prunes only 269 of 315,270.</a:t>
            </a:r>
          </a:p>
        </p:txBody>
      </p:sp>
      <p:sp>
        <p:nvSpPr>
          <p:cNvPr id="20" name="Rounded Rectangle 19"/>
          <p:cNvSpPr/>
          <p:nvPr/>
        </p:nvSpPr>
        <p:spPr>
          <a:xfrm>
            <a:off x="548640" y="5084064"/>
            <a:ext cx="11094415" cy="694944"/>
          </a:xfrm>
          <a:prstGeom prst="roundRect">
            <a:avLst>
              <a:gd name="adj" fmla="val 200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48640" y="5111496"/>
            <a:ext cx="76200" cy="64008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59536" y="5248656"/>
            <a:ext cx="10527487" cy="402336"/>
          </a:xfrm>
          <a:prstGeom prst="rect">
            <a:avLst/>
          </a:prstGeom>
          <a:noFill/>
        </p:spPr>
        <p:txBody>
          <a:bodyPr wrap="square" lIns="0" rIns="0" tIns="0" bIns="0">
            <a:spAutoFit/>
          </a:bodyPr>
          <a:lstStyle/>
          <a:p>
            <a:pPr algn="l"/>
            <a:r>
              <a:rPr sz="1700" b="0">
                <a:solidFill>
                  <a:srgbClr val="A7B0C0"/>
                </a:solidFill>
                <a:latin typeface="Segoe UI"/>
              </a:rPr>
              <a:t>High case counts are not automatically flagged — </a:t>
            </a:r>
            <a:r>
              <a:rPr sz="1700" b="1">
                <a:solidFill>
                  <a:srgbClr val="F8FAFC"/>
                </a:solidFill>
                <a:latin typeface="Segoe UI"/>
              </a:rPr>
              <a:t>Death, 1,848 cases at PRR 1.92, is not a signal.</a:t>
            </a:r>
          </a:p>
        </p:txBody>
      </p:sp>
      <p:sp>
        <p:nvSpPr>
          <p:cNvPr id="23"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24"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A78BFA"/>
                </a:solidFill>
                <a:latin typeface="Segoe UI"/>
              </a:rPr>
              <a:t>ORCHESTRATION · AIRFLOW 2.10.5</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One trigger runs the whole chain</a:t>
            </a:r>
          </a:p>
        </p:txBody>
      </p:sp>
      <p:sp>
        <p:nvSpPr>
          <p:cNvPr id="5" name="Rounded Rectangle 4"/>
          <p:cNvSpPr/>
          <p:nvPr/>
        </p:nvSpPr>
        <p:spPr>
          <a:xfrm>
            <a:off x="548640" y="1481328"/>
            <a:ext cx="1218780"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08760"/>
            <a:ext cx="50800" cy="7315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4944" y="1627632"/>
            <a:ext cx="981036" cy="548640"/>
          </a:xfrm>
          <a:prstGeom prst="rect">
            <a:avLst/>
          </a:prstGeom>
          <a:noFill/>
        </p:spPr>
        <p:txBody>
          <a:bodyPr wrap="square" lIns="0" rIns="0" tIns="0" bIns="0">
            <a:spAutoFit/>
          </a:bodyPr>
          <a:lstStyle/>
          <a:p>
            <a:pPr algn="ctr">
              <a:lnSpc>
                <a:spcPct val="105000"/>
              </a:lnSpc>
            </a:pPr>
            <a:r>
              <a:rPr sz="1300" b="1" i="0">
                <a:solidFill>
                  <a:srgbClr val="F8FAFC"/>
                </a:solidFill>
                <a:latin typeface="Segoe UI"/>
              </a:rPr>
              <a:t>ingest_</a:t>
            </a:r>
          </a:p>
          <a:p>
            <a:pPr algn="ctr">
              <a:lnSpc>
                <a:spcPct val="105000"/>
              </a:lnSpc>
            </a:pPr>
            <a:r>
              <a:rPr sz="1300" b="1" i="0">
                <a:solidFill>
                  <a:srgbClr val="F8FAFC"/>
                </a:solidFill>
                <a:latin typeface="Segoe UI"/>
              </a:rPr>
              <a:t>ndc</a:t>
            </a:r>
          </a:p>
        </p:txBody>
      </p:sp>
      <p:sp>
        <p:nvSpPr>
          <p:cNvPr id="8" name="Right Arrow 7"/>
          <p:cNvSpPr/>
          <p:nvPr/>
        </p:nvSpPr>
        <p:spPr>
          <a:xfrm>
            <a:off x="1785708" y="1764792"/>
            <a:ext cx="155448" cy="219456"/>
          </a:xfrm>
          <a:prstGeom prst="rightArrow">
            <a:avLst/>
          </a:prstGeom>
          <a:noFill/>
          <a:ln w="15875">
            <a:solidFill>
              <a:srgbClr val="A78BF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1959444" y="1481328"/>
            <a:ext cx="1218780"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959444" y="1508760"/>
            <a:ext cx="50800" cy="7315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105748" y="1627632"/>
            <a:ext cx="981036" cy="548640"/>
          </a:xfrm>
          <a:prstGeom prst="rect">
            <a:avLst/>
          </a:prstGeom>
          <a:noFill/>
        </p:spPr>
        <p:txBody>
          <a:bodyPr wrap="square" lIns="0" rIns="0" tIns="0" bIns="0">
            <a:spAutoFit/>
          </a:bodyPr>
          <a:lstStyle/>
          <a:p>
            <a:pPr algn="ctr">
              <a:lnSpc>
                <a:spcPct val="105000"/>
              </a:lnSpc>
            </a:pPr>
            <a:r>
              <a:rPr sz="1300" b="1" i="0">
                <a:solidFill>
                  <a:srgbClr val="F8FAFC"/>
                </a:solidFill>
                <a:latin typeface="Segoe UI"/>
              </a:rPr>
              <a:t>ingest_</a:t>
            </a:r>
          </a:p>
          <a:p>
            <a:pPr algn="ctr">
              <a:lnSpc>
                <a:spcPct val="105000"/>
              </a:lnSpc>
            </a:pPr>
            <a:r>
              <a:rPr sz="1300" b="1" i="0">
                <a:solidFill>
                  <a:srgbClr val="F8FAFC"/>
                </a:solidFill>
                <a:latin typeface="Segoe UI"/>
              </a:rPr>
              <a:t>faers</a:t>
            </a:r>
          </a:p>
        </p:txBody>
      </p:sp>
      <p:sp>
        <p:nvSpPr>
          <p:cNvPr id="12" name="Right Arrow 11"/>
          <p:cNvSpPr/>
          <p:nvPr/>
        </p:nvSpPr>
        <p:spPr>
          <a:xfrm>
            <a:off x="3196513" y="1764792"/>
            <a:ext cx="155448" cy="219456"/>
          </a:xfrm>
          <a:prstGeom prst="rightArrow">
            <a:avLst/>
          </a:prstGeom>
          <a:noFill/>
          <a:ln w="15875">
            <a:solidFill>
              <a:srgbClr val="A78BF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370249" y="1481328"/>
            <a:ext cx="1218780"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370249" y="1508760"/>
            <a:ext cx="50800" cy="7315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16553" y="1627632"/>
            <a:ext cx="981036" cy="548640"/>
          </a:xfrm>
          <a:prstGeom prst="rect">
            <a:avLst/>
          </a:prstGeom>
          <a:noFill/>
        </p:spPr>
        <p:txBody>
          <a:bodyPr wrap="square" lIns="0" rIns="0" tIns="0" bIns="0">
            <a:spAutoFit/>
          </a:bodyPr>
          <a:lstStyle/>
          <a:p>
            <a:pPr algn="ctr">
              <a:lnSpc>
                <a:spcPct val="105000"/>
              </a:lnSpc>
            </a:pPr>
            <a:r>
              <a:rPr sz="1300" b="1" i="0">
                <a:solidFill>
                  <a:srgbClr val="F8FAFC"/>
                </a:solidFill>
                <a:latin typeface="Segoe UI"/>
              </a:rPr>
              <a:t>build_</a:t>
            </a:r>
          </a:p>
          <a:p>
            <a:pPr algn="ctr">
              <a:lnSpc>
                <a:spcPct val="105000"/>
              </a:lnSpc>
            </a:pPr>
            <a:r>
              <a:rPr sz="1300" b="1" i="0">
                <a:solidFill>
                  <a:srgbClr val="F8FAFC"/>
                </a:solidFill>
                <a:latin typeface="Segoe UI"/>
              </a:rPr>
              <a:t>silver</a:t>
            </a:r>
          </a:p>
        </p:txBody>
      </p:sp>
      <p:sp>
        <p:nvSpPr>
          <p:cNvPr id="16" name="Right Arrow 15"/>
          <p:cNvSpPr/>
          <p:nvPr/>
        </p:nvSpPr>
        <p:spPr>
          <a:xfrm>
            <a:off x="4607318" y="1764792"/>
            <a:ext cx="155448" cy="219456"/>
          </a:xfrm>
          <a:prstGeom prst="rightArrow">
            <a:avLst/>
          </a:prstGeom>
          <a:noFill/>
          <a:ln w="15875">
            <a:solidFill>
              <a:srgbClr val="A78BF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781054" y="1481328"/>
            <a:ext cx="1218780"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781054" y="1508760"/>
            <a:ext cx="50800" cy="7315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927358" y="1627632"/>
            <a:ext cx="981036" cy="548640"/>
          </a:xfrm>
          <a:prstGeom prst="rect">
            <a:avLst/>
          </a:prstGeom>
          <a:noFill/>
        </p:spPr>
        <p:txBody>
          <a:bodyPr wrap="square" lIns="0" rIns="0" tIns="0" bIns="0">
            <a:spAutoFit/>
          </a:bodyPr>
          <a:lstStyle/>
          <a:p>
            <a:pPr algn="ctr">
              <a:lnSpc>
                <a:spcPct val="105000"/>
              </a:lnSpc>
            </a:pPr>
            <a:r>
              <a:rPr sz="1300" b="1" i="0">
                <a:solidFill>
                  <a:srgbClr val="F8FAFC"/>
                </a:solidFill>
                <a:latin typeface="Segoe UI"/>
              </a:rPr>
              <a:t>upload_</a:t>
            </a:r>
          </a:p>
          <a:p>
            <a:pPr algn="ctr">
              <a:lnSpc>
                <a:spcPct val="105000"/>
              </a:lnSpc>
            </a:pPr>
            <a:r>
              <a:rPr sz="1300" b="1" i="0">
                <a:solidFill>
                  <a:srgbClr val="F8FAFC"/>
                </a:solidFill>
                <a:latin typeface="Segoe UI"/>
              </a:rPr>
              <a:t>s3</a:t>
            </a:r>
          </a:p>
        </p:txBody>
      </p:sp>
      <p:sp>
        <p:nvSpPr>
          <p:cNvPr id="20" name="Right Arrow 19"/>
          <p:cNvSpPr/>
          <p:nvPr/>
        </p:nvSpPr>
        <p:spPr>
          <a:xfrm>
            <a:off x="6018123" y="1764792"/>
            <a:ext cx="155448" cy="219456"/>
          </a:xfrm>
          <a:prstGeom prst="rightArrow">
            <a:avLst/>
          </a:prstGeom>
          <a:noFill/>
          <a:ln w="15875">
            <a:solidFill>
              <a:srgbClr val="A78BF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91859" y="1481328"/>
            <a:ext cx="1218780"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191859" y="1508760"/>
            <a:ext cx="50800" cy="7315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38163" y="1627632"/>
            <a:ext cx="981036" cy="548640"/>
          </a:xfrm>
          <a:prstGeom prst="rect">
            <a:avLst/>
          </a:prstGeom>
          <a:noFill/>
        </p:spPr>
        <p:txBody>
          <a:bodyPr wrap="square" lIns="0" rIns="0" tIns="0" bIns="0">
            <a:spAutoFit/>
          </a:bodyPr>
          <a:lstStyle/>
          <a:p>
            <a:pPr algn="ctr">
              <a:lnSpc>
                <a:spcPct val="105000"/>
              </a:lnSpc>
            </a:pPr>
            <a:r>
              <a:rPr sz="1300" b="1" i="0">
                <a:solidFill>
                  <a:srgbClr val="F8FAFC"/>
                </a:solidFill>
                <a:latin typeface="Segoe UI"/>
              </a:rPr>
              <a:t>load_</a:t>
            </a:r>
          </a:p>
          <a:p>
            <a:pPr algn="ctr">
              <a:lnSpc>
                <a:spcPct val="105000"/>
              </a:lnSpc>
            </a:pPr>
            <a:r>
              <a:rPr sz="1300" b="1" i="0">
                <a:solidFill>
                  <a:srgbClr val="F8FAFC"/>
                </a:solidFill>
                <a:latin typeface="Segoe UI"/>
              </a:rPr>
              <a:t>raw</a:t>
            </a:r>
          </a:p>
        </p:txBody>
      </p:sp>
      <p:sp>
        <p:nvSpPr>
          <p:cNvPr id="24" name="Right Arrow 23"/>
          <p:cNvSpPr/>
          <p:nvPr/>
        </p:nvSpPr>
        <p:spPr>
          <a:xfrm>
            <a:off x="7428928" y="1764792"/>
            <a:ext cx="155448" cy="219456"/>
          </a:xfrm>
          <a:prstGeom prst="rightArrow">
            <a:avLst/>
          </a:prstGeom>
          <a:noFill/>
          <a:ln w="15875">
            <a:solidFill>
              <a:srgbClr val="A78BF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7602664" y="1481328"/>
            <a:ext cx="1218780"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602664" y="1508760"/>
            <a:ext cx="50800" cy="7315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748968" y="1627632"/>
            <a:ext cx="981036" cy="548640"/>
          </a:xfrm>
          <a:prstGeom prst="rect">
            <a:avLst/>
          </a:prstGeom>
          <a:noFill/>
        </p:spPr>
        <p:txBody>
          <a:bodyPr wrap="square" lIns="0" rIns="0" tIns="0" bIns="0">
            <a:spAutoFit/>
          </a:bodyPr>
          <a:lstStyle/>
          <a:p>
            <a:pPr algn="ctr">
              <a:lnSpc>
                <a:spcPct val="105000"/>
              </a:lnSpc>
            </a:pPr>
            <a:r>
              <a:rPr sz="1300" b="1" i="0">
                <a:solidFill>
                  <a:srgbClr val="F8FAFC"/>
                </a:solidFill>
                <a:latin typeface="Segoe UI"/>
              </a:rPr>
              <a:t>dbt_</a:t>
            </a:r>
          </a:p>
          <a:p>
            <a:pPr algn="ctr">
              <a:lnSpc>
                <a:spcPct val="105000"/>
              </a:lnSpc>
            </a:pPr>
            <a:r>
              <a:rPr sz="1300" b="1" i="0">
                <a:solidFill>
                  <a:srgbClr val="F8FAFC"/>
                </a:solidFill>
                <a:latin typeface="Segoe UI"/>
              </a:rPr>
              <a:t>build</a:t>
            </a:r>
          </a:p>
        </p:txBody>
      </p:sp>
      <p:sp>
        <p:nvSpPr>
          <p:cNvPr id="28" name="Right Arrow 27"/>
          <p:cNvSpPr/>
          <p:nvPr/>
        </p:nvSpPr>
        <p:spPr>
          <a:xfrm>
            <a:off x="8839733" y="1764792"/>
            <a:ext cx="155448" cy="219456"/>
          </a:xfrm>
          <a:prstGeom prst="rightArrow">
            <a:avLst/>
          </a:prstGeom>
          <a:noFill/>
          <a:ln w="15875">
            <a:solidFill>
              <a:srgbClr val="A78BF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9013469" y="1481328"/>
            <a:ext cx="1218780"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013469" y="1508760"/>
            <a:ext cx="50800" cy="7315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59773" y="1627632"/>
            <a:ext cx="981036" cy="548640"/>
          </a:xfrm>
          <a:prstGeom prst="rect">
            <a:avLst/>
          </a:prstGeom>
          <a:noFill/>
        </p:spPr>
        <p:txBody>
          <a:bodyPr wrap="square" lIns="0" rIns="0" tIns="0" bIns="0">
            <a:spAutoFit/>
          </a:bodyPr>
          <a:lstStyle/>
          <a:p>
            <a:pPr algn="ctr">
              <a:lnSpc>
                <a:spcPct val="105000"/>
              </a:lnSpc>
            </a:pPr>
            <a:r>
              <a:rPr sz="1300" b="1" i="0">
                <a:solidFill>
                  <a:srgbClr val="F8FAFC"/>
                </a:solidFill>
                <a:latin typeface="Segoe UI"/>
              </a:rPr>
              <a:t>dbt_</a:t>
            </a:r>
          </a:p>
          <a:p>
            <a:pPr algn="ctr">
              <a:lnSpc>
                <a:spcPct val="105000"/>
              </a:lnSpc>
            </a:pPr>
            <a:r>
              <a:rPr sz="1300" b="1" i="0">
                <a:solidFill>
                  <a:srgbClr val="F8FAFC"/>
                </a:solidFill>
                <a:latin typeface="Segoe UI"/>
              </a:rPr>
              <a:t>test</a:t>
            </a:r>
          </a:p>
        </p:txBody>
      </p:sp>
      <p:sp>
        <p:nvSpPr>
          <p:cNvPr id="32" name="Right Arrow 31"/>
          <p:cNvSpPr/>
          <p:nvPr/>
        </p:nvSpPr>
        <p:spPr>
          <a:xfrm>
            <a:off x="10250538" y="1764792"/>
            <a:ext cx="155448" cy="219456"/>
          </a:xfrm>
          <a:prstGeom prst="rightArrow">
            <a:avLst/>
          </a:prstGeom>
          <a:noFill/>
          <a:ln w="15875">
            <a:solidFill>
              <a:srgbClr val="A78BF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10424274" y="1481328"/>
            <a:ext cx="1218780" cy="786384"/>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0424274" y="1508760"/>
            <a:ext cx="50800" cy="7315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570578" y="1627632"/>
            <a:ext cx="981036" cy="548640"/>
          </a:xfrm>
          <a:prstGeom prst="rect">
            <a:avLst/>
          </a:prstGeom>
          <a:noFill/>
        </p:spPr>
        <p:txBody>
          <a:bodyPr wrap="square" lIns="0" rIns="0" tIns="0" bIns="0">
            <a:spAutoFit/>
          </a:bodyPr>
          <a:lstStyle/>
          <a:p>
            <a:pPr algn="ctr">
              <a:lnSpc>
                <a:spcPct val="105000"/>
              </a:lnSpc>
            </a:pPr>
            <a:r>
              <a:rPr sz="1300" b="1" i="0">
                <a:solidFill>
                  <a:srgbClr val="F8FAFC"/>
                </a:solidFill>
                <a:latin typeface="Segoe UI"/>
              </a:rPr>
              <a:t>publish_</a:t>
            </a:r>
          </a:p>
          <a:p>
            <a:pPr algn="ctr">
              <a:lnSpc>
                <a:spcPct val="105000"/>
              </a:lnSpc>
            </a:pPr>
            <a:r>
              <a:rPr sz="1300" b="1" i="0">
                <a:solidFill>
                  <a:srgbClr val="F8FAFC"/>
                </a:solidFill>
                <a:latin typeface="Segoe UI"/>
              </a:rPr>
              <a:t>metrics</a:t>
            </a:r>
          </a:p>
        </p:txBody>
      </p:sp>
      <p:sp>
        <p:nvSpPr>
          <p:cNvPr id="36" name="TextBox 35"/>
          <p:cNvSpPr txBox="1"/>
          <p:nvPr/>
        </p:nvSpPr>
        <p:spPr>
          <a:xfrm>
            <a:off x="548640" y="2359152"/>
            <a:ext cx="11094415" cy="274320"/>
          </a:xfrm>
          <a:prstGeom prst="rect">
            <a:avLst/>
          </a:prstGeom>
          <a:noFill/>
        </p:spPr>
        <p:txBody>
          <a:bodyPr wrap="square" lIns="0" rIns="0" tIns="0" bIns="0">
            <a:spAutoFit/>
          </a:bodyPr>
          <a:lstStyle/>
          <a:p>
            <a:pPr algn="l"/>
            <a:r>
              <a:rPr sz="1200" b="0" i="0">
                <a:solidFill>
                  <a:srgbClr val="A7B0C0"/>
                </a:solidFill>
                <a:latin typeface="Segoe UI"/>
              </a:rPr>
              <a:t>dashed = orchestration control · DAG pv_pipeline</a:t>
            </a:r>
          </a:p>
        </p:txBody>
      </p:sp>
      <p:sp>
        <p:nvSpPr>
          <p:cNvPr id="37" name="TextBox 36"/>
          <p:cNvSpPr txBox="1"/>
          <p:nvPr/>
        </p:nvSpPr>
        <p:spPr>
          <a:xfrm>
            <a:off x="548640" y="2688336"/>
            <a:ext cx="11094415" cy="310896"/>
          </a:xfrm>
          <a:prstGeom prst="rect">
            <a:avLst/>
          </a:prstGeom>
          <a:noFill/>
        </p:spPr>
        <p:txBody>
          <a:bodyPr wrap="square" lIns="0" rIns="0" tIns="0" bIns="0">
            <a:spAutoFit/>
          </a:bodyPr>
          <a:lstStyle/>
          <a:p>
            <a:pPr algn="l"/>
            <a:r>
              <a:rPr sz="1700" b="0">
                <a:solidFill>
                  <a:srgbClr val="A7B0C0"/>
                </a:solidFill>
                <a:latin typeface="Segoe UI"/>
              </a:rPr>
              <a:t>Full 24-month run, 15 August 2026 — </a:t>
            </a:r>
            <a:r>
              <a:rPr sz="1700" b="1">
                <a:solidFill>
                  <a:srgbClr val="F8FAFC"/>
                </a:solidFill>
                <a:latin typeface="Segoe UI"/>
              </a:rPr>
              <a:t>success in 3 h 57 m 23 s, 8/8 green in dependency order</a:t>
            </a:r>
          </a:p>
        </p:txBody>
      </p:sp>
      <p:sp>
        <p:nvSpPr>
          <p:cNvPr id="38" name="TextBox 37"/>
          <p:cNvSpPr txBox="1"/>
          <p:nvPr/>
        </p:nvSpPr>
        <p:spPr>
          <a:xfrm>
            <a:off x="822959" y="3035808"/>
            <a:ext cx="2468880" cy="256032"/>
          </a:xfrm>
          <a:prstGeom prst="rect">
            <a:avLst/>
          </a:prstGeom>
          <a:noFill/>
        </p:spPr>
        <p:txBody>
          <a:bodyPr wrap="square" lIns="0" rIns="0" tIns="0" bIns="0">
            <a:spAutoFit/>
          </a:bodyPr>
          <a:lstStyle/>
          <a:p>
            <a:pPr algn="l"/>
            <a:r>
              <a:rPr sz="1300" b="1" i="0" spc="120">
                <a:solidFill>
                  <a:srgbClr val="A78BFA"/>
                </a:solidFill>
                <a:latin typeface="Segoe UI"/>
              </a:rPr>
              <a:t>TASK</a:t>
            </a:r>
          </a:p>
        </p:txBody>
      </p:sp>
      <p:sp>
        <p:nvSpPr>
          <p:cNvPr id="39" name="TextBox 38"/>
          <p:cNvSpPr txBox="1"/>
          <p:nvPr/>
        </p:nvSpPr>
        <p:spPr>
          <a:xfrm>
            <a:off x="3383280" y="3035808"/>
            <a:ext cx="2194560" cy="256032"/>
          </a:xfrm>
          <a:prstGeom prst="rect">
            <a:avLst/>
          </a:prstGeom>
          <a:noFill/>
        </p:spPr>
        <p:txBody>
          <a:bodyPr wrap="square" lIns="0" rIns="0" tIns="0" bIns="0">
            <a:spAutoFit/>
          </a:bodyPr>
          <a:lstStyle/>
          <a:p>
            <a:pPr algn="l"/>
            <a:r>
              <a:rPr sz="1300" b="1" i="0" spc="120">
                <a:solidFill>
                  <a:srgbClr val="A78BFA"/>
                </a:solidFill>
                <a:latin typeface="Segoe UI"/>
              </a:rPr>
              <a:t>DURATION</a:t>
            </a:r>
          </a:p>
        </p:txBody>
      </p:sp>
      <p:sp>
        <p:nvSpPr>
          <p:cNvPr id="40" name="TextBox 39"/>
          <p:cNvSpPr txBox="1"/>
          <p:nvPr/>
        </p:nvSpPr>
        <p:spPr>
          <a:xfrm>
            <a:off x="5669279" y="3035808"/>
            <a:ext cx="3657600" cy="256032"/>
          </a:xfrm>
          <a:prstGeom prst="rect">
            <a:avLst/>
          </a:prstGeom>
          <a:noFill/>
        </p:spPr>
        <p:txBody>
          <a:bodyPr wrap="square" lIns="0" rIns="0" tIns="0" bIns="0">
            <a:spAutoFit/>
          </a:bodyPr>
          <a:lstStyle/>
          <a:p>
            <a:pPr algn="l"/>
            <a:r>
              <a:rPr sz="1300" b="1" i="0" spc="120">
                <a:solidFill>
                  <a:srgbClr val="A78BFA"/>
                </a:solidFill>
                <a:latin typeface="Segoe UI"/>
              </a:rPr>
              <a:t>RESULT</a:t>
            </a:r>
          </a:p>
        </p:txBody>
      </p:sp>
      <p:sp>
        <p:nvSpPr>
          <p:cNvPr id="41" name="Rectangle 40"/>
          <p:cNvSpPr/>
          <p:nvPr/>
        </p:nvSpPr>
        <p:spPr>
          <a:xfrm>
            <a:off x="548640" y="3310127"/>
            <a:ext cx="11094415" cy="12700"/>
          </a:xfrm>
          <a:prstGeom prst="rect">
            <a:avLst/>
          </a:prstGeom>
          <a:solidFill>
            <a:srgbClr val="26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22959" y="3401568"/>
            <a:ext cx="2468880" cy="256032"/>
          </a:xfrm>
          <a:prstGeom prst="rect">
            <a:avLst/>
          </a:prstGeom>
          <a:noFill/>
        </p:spPr>
        <p:txBody>
          <a:bodyPr wrap="square" lIns="0" rIns="0" tIns="0" bIns="0">
            <a:spAutoFit/>
          </a:bodyPr>
          <a:lstStyle/>
          <a:p>
            <a:pPr algn="l"/>
            <a:r>
              <a:rPr sz="1300" b="1" i="0">
                <a:solidFill>
                  <a:srgbClr val="F8FAFC"/>
                </a:solidFill>
                <a:latin typeface="Segoe UI"/>
              </a:rPr>
              <a:t>build_silver</a:t>
            </a:r>
          </a:p>
        </p:txBody>
      </p:sp>
      <p:sp>
        <p:nvSpPr>
          <p:cNvPr id="43" name="TextBox 42"/>
          <p:cNvSpPr txBox="1"/>
          <p:nvPr/>
        </p:nvSpPr>
        <p:spPr>
          <a:xfrm>
            <a:off x="3383280" y="3401568"/>
            <a:ext cx="2194560" cy="256032"/>
          </a:xfrm>
          <a:prstGeom prst="rect">
            <a:avLst/>
          </a:prstGeom>
          <a:noFill/>
        </p:spPr>
        <p:txBody>
          <a:bodyPr wrap="square" lIns="0" rIns="0" tIns="0" bIns="0">
            <a:spAutoFit/>
          </a:bodyPr>
          <a:lstStyle/>
          <a:p>
            <a:pPr algn="l"/>
            <a:r>
              <a:rPr sz="1300" b="0" i="0">
                <a:solidFill>
                  <a:srgbClr val="A7B0C0"/>
                </a:solidFill>
                <a:latin typeface="Segoe UI"/>
              </a:rPr>
              <a:t>3 h 47 m 27 s</a:t>
            </a:r>
          </a:p>
        </p:txBody>
      </p:sp>
      <p:sp>
        <p:nvSpPr>
          <p:cNvPr id="44" name="TextBox 43"/>
          <p:cNvSpPr txBox="1"/>
          <p:nvPr/>
        </p:nvSpPr>
        <p:spPr>
          <a:xfrm>
            <a:off x="5669279" y="3401568"/>
            <a:ext cx="5882335" cy="256032"/>
          </a:xfrm>
          <a:prstGeom prst="rect">
            <a:avLst/>
          </a:prstGeom>
          <a:noFill/>
        </p:spPr>
        <p:txBody>
          <a:bodyPr wrap="square" lIns="0" rIns="0" tIns="0" bIns="0">
            <a:spAutoFit/>
          </a:bodyPr>
          <a:lstStyle/>
          <a:p>
            <a:pPr algn="l"/>
            <a:r>
              <a:rPr sz="1300" b="0" i="0">
                <a:solidFill>
                  <a:srgbClr val="A7B0C0"/>
                </a:solidFill>
                <a:latin typeface="Segoe UI"/>
              </a:rPr>
              <a:t>24 months of Silver rebuilt</a:t>
            </a:r>
          </a:p>
        </p:txBody>
      </p:sp>
      <p:sp>
        <p:nvSpPr>
          <p:cNvPr id="45" name="TextBox 44"/>
          <p:cNvSpPr txBox="1"/>
          <p:nvPr/>
        </p:nvSpPr>
        <p:spPr>
          <a:xfrm>
            <a:off x="822959" y="3689604"/>
            <a:ext cx="2468880" cy="256032"/>
          </a:xfrm>
          <a:prstGeom prst="rect">
            <a:avLst/>
          </a:prstGeom>
          <a:noFill/>
        </p:spPr>
        <p:txBody>
          <a:bodyPr wrap="square" lIns="0" rIns="0" tIns="0" bIns="0">
            <a:spAutoFit/>
          </a:bodyPr>
          <a:lstStyle/>
          <a:p>
            <a:pPr algn="l"/>
            <a:r>
              <a:rPr sz="1300" b="1" i="0">
                <a:solidFill>
                  <a:srgbClr val="F8FAFC"/>
                </a:solidFill>
                <a:latin typeface="Segoe UI"/>
              </a:rPr>
              <a:t>upload_s3</a:t>
            </a:r>
          </a:p>
        </p:txBody>
      </p:sp>
      <p:sp>
        <p:nvSpPr>
          <p:cNvPr id="46" name="TextBox 45"/>
          <p:cNvSpPr txBox="1"/>
          <p:nvPr/>
        </p:nvSpPr>
        <p:spPr>
          <a:xfrm>
            <a:off x="3383280" y="3689604"/>
            <a:ext cx="2194560" cy="256032"/>
          </a:xfrm>
          <a:prstGeom prst="rect">
            <a:avLst/>
          </a:prstGeom>
          <a:noFill/>
        </p:spPr>
        <p:txBody>
          <a:bodyPr wrap="square" lIns="0" rIns="0" tIns="0" bIns="0">
            <a:spAutoFit/>
          </a:bodyPr>
          <a:lstStyle/>
          <a:p>
            <a:pPr algn="l"/>
            <a:r>
              <a:rPr sz="1300" b="0" i="0">
                <a:solidFill>
                  <a:srgbClr val="A7B0C0"/>
                </a:solidFill>
                <a:latin typeface="Segoe UI"/>
              </a:rPr>
              <a:t>5 m 28 s</a:t>
            </a:r>
          </a:p>
        </p:txBody>
      </p:sp>
      <p:sp>
        <p:nvSpPr>
          <p:cNvPr id="47" name="TextBox 46"/>
          <p:cNvSpPr txBox="1"/>
          <p:nvPr/>
        </p:nvSpPr>
        <p:spPr>
          <a:xfrm>
            <a:off x="5669279" y="3689604"/>
            <a:ext cx="5882335" cy="256032"/>
          </a:xfrm>
          <a:prstGeom prst="rect">
            <a:avLst/>
          </a:prstGeom>
          <a:noFill/>
        </p:spPr>
        <p:txBody>
          <a:bodyPr wrap="square" lIns="0" rIns="0" tIns="0" bIns="0">
            <a:spAutoFit/>
          </a:bodyPr>
          <a:lstStyle/>
          <a:p>
            <a:pPr algn="l"/>
            <a:r>
              <a:rPr sz="1300" b="0" i="0">
                <a:solidFill>
                  <a:srgbClr val="A7B0C0"/>
                </a:solidFill>
                <a:latin typeface="Segoe UI"/>
              </a:rPr>
              <a:t>486 objects mirrored</a:t>
            </a:r>
          </a:p>
        </p:txBody>
      </p:sp>
      <p:sp>
        <p:nvSpPr>
          <p:cNvPr id="48" name="TextBox 47"/>
          <p:cNvSpPr txBox="1"/>
          <p:nvPr/>
        </p:nvSpPr>
        <p:spPr>
          <a:xfrm>
            <a:off x="822959" y="3977640"/>
            <a:ext cx="2468880" cy="256032"/>
          </a:xfrm>
          <a:prstGeom prst="rect">
            <a:avLst/>
          </a:prstGeom>
          <a:noFill/>
        </p:spPr>
        <p:txBody>
          <a:bodyPr wrap="square" lIns="0" rIns="0" tIns="0" bIns="0">
            <a:spAutoFit/>
          </a:bodyPr>
          <a:lstStyle/>
          <a:p>
            <a:pPr algn="l"/>
            <a:r>
              <a:rPr sz="1300" b="1" i="0">
                <a:solidFill>
                  <a:srgbClr val="F8FAFC"/>
                </a:solidFill>
                <a:latin typeface="Segoe UI"/>
              </a:rPr>
              <a:t>load_raw</a:t>
            </a:r>
          </a:p>
        </p:txBody>
      </p:sp>
      <p:sp>
        <p:nvSpPr>
          <p:cNvPr id="49" name="TextBox 48"/>
          <p:cNvSpPr txBox="1"/>
          <p:nvPr/>
        </p:nvSpPr>
        <p:spPr>
          <a:xfrm>
            <a:off x="3383280" y="3977640"/>
            <a:ext cx="2194560" cy="256032"/>
          </a:xfrm>
          <a:prstGeom prst="rect">
            <a:avLst/>
          </a:prstGeom>
          <a:noFill/>
        </p:spPr>
        <p:txBody>
          <a:bodyPr wrap="square" lIns="0" rIns="0" tIns="0" bIns="0">
            <a:spAutoFit/>
          </a:bodyPr>
          <a:lstStyle/>
          <a:p>
            <a:pPr algn="l"/>
            <a:r>
              <a:rPr sz="1300" b="0" i="0">
                <a:solidFill>
                  <a:srgbClr val="A7B0C0"/>
                </a:solidFill>
                <a:latin typeface="Segoe UI"/>
              </a:rPr>
              <a:t>2 m 43 s</a:t>
            </a:r>
          </a:p>
        </p:txBody>
      </p:sp>
      <p:sp>
        <p:nvSpPr>
          <p:cNvPr id="50" name="TextBox 49"/>
          <p:cNvSpPr txBox="1"/>
          <p:nvPr/>
        </p:nvSpPr>
        <p:spPr>
          <a:xfrm>
            <a:off x="5669279" y="3977640"/>
            <a:ext cx="5882335" cy="256032"/>
          </a:xfrm>
          <a:prstGeom prst="rect">
            <a:avLst/>
          </a:prstGeom>
          <a:noFill/>
        </p:spPr>
        <p:txBody>
          <a:bodyPr wrap="square" lIns="0" rIns="0" tIns="0" bIns="0">
            <a:spAutoFit/>
          </a:bodyPr>
          <a:lstStyle/>
          <a:p>
            <a:pPr algn="l"/>
            <a:r>
              <a:rPr sz="1300" b="0" i="0">
                <a:solidFill>
                  <a:srgbClr val="A7B0C0"/>
                </a:solidFill>
                <a:latin typeface="Segoe UI"/>
              </a:rPr>
              <a:t>45,030,932 rows into RAW</a:t>
            </a:r>
          </a:p>
        </p:txBody>
      </p:sp>
      <p:sp>
        <p:nvSpPr>
          <p:cNvPr id="51" name="TextBox 50"/>
          <p:cNvSpPr txBox="1"/>
          <p:nvPr/>
        </p:nvSpPr>
        <p:spPr>
          <a:xfrm>
            <a:off x="822959" y="4265676"/>
            <a:ext cx="2468880" cy="256032"/>
          </a:xfrm>
          <a:prstGeom prst="rect">
            <a:avLst/>
          </a:prstGeom>
          <a:noFill/>
        </p:spPr>
        <p:txBody>
          <a:bodyPr wrap="square" lIns="0" rIns="0" tIns="0" bIns="0">
            <a:spAutoFit/>
          </a:bodyPr>
          <a:lstStyle/>
          <a:p>
            <a:pPr algn="l"/>
            <a:r>
              <a:rPr sz="1300" b="1" i="0">
                <a:solidFill>
                  <a:srgbClr val="F8FAFC"/>
                </a:solidFill>
                <a:latin typeface="Segoe UI"/>
              </a:rPr>
              <a:t>dbt_build</a:t>
            </a:r>
          </a:p>
        </p:txBody>
      </p:sp>
      <p:sp>
        <p:nvSpPr>
          <p:cNvPr id="52" name="TextBox 51"/>
          <p:cNvSpPr txBox="1"/>
          <p:nvPr/>
        </p:nvSpPr>
        <p:spPr>
          <a:xfrm>
            <a:off x="3383280" y="4265676"/>
            <a:ext cx="2194560" cy="256032"/>
          </a:xfrm>
          <a:prstGeom prst="rect">
            <a:avLst/>
          </a:prstGeom>
          <a:noFill/>
        </p:spPr>
        <p:txBody>
          <a:bodyPr wrap="square" lIns="0" rIns="0" tIns="0" bIns="0">
            <a:spAutoFit/>
          </a:bodyPr>
          <a:lstStyle/>
          <a:p>
            <a:pPr algn="l"/>
            <a:r>
              <a:rPr sz="1300" b="0" i="0">
                <a:solidFill>
                  <a:srgbClr val="A7B0C0"/>
                </a:solidFill>
                <a:latin typeface="Segoe UI"/>
              </a:rPr>
              <a:t>1 m 08 s</a:t>
            </a:r>
          </a:p>
        </p:txBody>
      </p:sp>
      <p:sp>
        <p:nvSpPr>
          <p:cNvPr id="53" name="TextBox 52"/>
          <p:cNvSpPr txBox="1"/>
          <p:nvPr/>
        </p:nvSpPr>
        <p:spPr>
          <a:xfrm>
            <a:off x="5669279" y="4265676"/>
            <a:ext cx="5882335" cy="256032"/>
          </a:xfrm>
          <a:prstGeom prst="rect">
            <a:avLst/>
          </a:prstGeom>
          <a:noFill/>
        </p:spPr>
        <p:txBody>
          <a:bodyPr wrap="square" lIns="0" rIns="0" tIns="0" bIns="0">
            <a:spAutoFit/>
          </a:bodyPr>
          <a:lstStyle/>
          <a:p>
            <a:pPr algn="l"/>
            <a:r>
              <a:rPr sz="1300" b="0" i="0">
                <a:solidFill>
                  <a:srgbClr val="A7B0C0"/>
                </a:solidFill>
                <a:latin typeface="Segoe UI"/>
              </a:rPr>
              <a:t>PASS=53, WARN=0, ERROR=0</a:t>
            </a:r>
          </a:p>
        </p:txBody>
      </p:sp>
      <p:sp>
        <p:nvSpPr>
          <p:cNvPr id="54" name="TextBox 53"/>
          <p:cNvSpPr txBox="1"/>
          <p:nvPr/>
        </p:nvSpPr>
        <p:spPr>
          <a:xfrm>
            <a:off x="822959" y="4553712"/>
            <a:ext cx="2468880" cy="256032"/>
          </a:xfrm>
          <a:prstGeom prst="rect">
            <a:avLst/>
          </a:prstGeom>
          <a:noFill/>
        </p:spPr>
        <p:txBody>
          <a:bodyPr wrap="square" lIns="0" rIns="0" tIns="0" bIns="0">
            <a:spAutoFit/>
          </a:bodyPr>
          <a:lstStyle/>
          <a:p>
            <a:pPr algn="l"/>
            <a:r>
              <a:rPr sz="1300" b="1" i="0">
                <a:solidFill>
                  <a:srgbClr val="F8FAFC"/>
                </a:solidFill>
                <a:latin typeface="Segoe UI"/>
              </a:rPr>
              <a:t>dbt_test</a:t>
            </a:r>
          </a:p>
        </p:txBody>
      </p:sp>
      <p:sp>
        <p:nvSpPr>
          <p:cNvPr id="55" name="TextBox 54"/>
          <p:cNvSpPr txBox="1"/>
          <p:nvPr/>
        </p:nvSpPr>
        <p:spPr>
          <a:xfrm>
            <a:off x="3383280" y="4553712"/>
            <a:ext cx="2194560" cy="256032"/>
          </a:xfrm>
          <a:prstGeom prst="rect">
            <a:avLst/>
          </a:prstGeom>
          <a:noFill/>
        </p:spPr>
        <p:txBody>
          <a:bodyPr wrap="square" lIns="0" rIns="0" tIns="0" bIns="0">
            <a:spAutoFit/>
          </a:bodyPr>
          <a:lstStyle/>
          <a:p>
            <a:pPr algn="l"/>
            <a:r>
              <a:rPr sz="1300" b="0" i="0">
                <a:solidFill>
                  <a:srgbClr val="A7B0C0"/>
                </a:solidFill>
                <a:latin typeface="Segoe UI"/>
              </a:rPr>
              <a:t>9.7 s</a:t>
            </a:r>
          </a:p>
        </p:txBody>
      </p:sp>
      <p:sp>
        <p:nvSpPr>
          <p:cNvPr id="56" name="TextBox 55"/>
          <p:cNvSpPr txBox="1"/>
          <p:nvPr/>
        </p:nvSpPr>
        <p:spPr>
          <a:xfrm>
            <a:off x="5669279" y="4553712"/>
            <a:ext cx="5882335" cy="256032"/>
          </a:xfrm>
          <a:prstGeom prst="rect">
            <a:avLst/>
          </a:prstGeom>
          <a:noFill/>
        </p:spPr>
        <p:txBody>
          <a:bodyPr wrap="square" lIns="0" rIns="0" tIns="0" bIns="0">
            <a:spAutoFit/>
          </a:bodyPr>
          <a:lstStyle/>
          <a:p>
            <a:pPr algn="l"/>
            <a:r>
              <a:rPr sz="1300" b="0" i="0">
                <a:solidFill>
                  <a:srgbClr val="A7B0C0"/>
                </a:solidFill>
                <a:latin typeface="Segoe UI"/>
              </a:rPr>
              <a:t>PASS=42</a:t>
            </a:r>
          </a:p>
        </p:txBody>
      </p:sp>
      <p:sp>
        <p:nvSpPr>
          <p:cNvPr id="57" name="TextBox 56"/>
          <p:cNvSpPr txBox="1"/>
          <p:nvPr/>
        </p:nvSpPr>
        <p:spPr>
          <a:xfrm>
            <a:off x="822959" y="4841748"/>
            <a:ext cx="2468880" cy="256032"/>
          </a:xfrm>
          <a:prstGeom prst="rect">
            <a:avLst/>
          </a:prstGeom>
          <a:noFill/>
        </p:spPr>
        <p:txBody>
          <a:bodyPr wrap="square" lIns="0" rIns="0" tIns="0" bIns="0">
            <a:spAutoFit/>
          </a:bodyPr>
          <a:lstStyle/>
          <a:p>
            <a:pPr algn="l"/>
            <a:r>
              <a:rPr sz="1300" b="1" i="0">
                <a:solidFill>
                  <a:srgbClr val="F8FAFC"/>
                </a:solidFill>
                <a:latin typeface="Segoe UI"/>
              </a:rPr>
              <a:t>publish_metrics</a:t>
            </a:r>
          </a:p>
        </p:txBody>
      </p:sp>
      <p:sp>
        <p:nvSpPr>
          <p:cNvPr id="58" name="TextBox 57"/>
          <p:cNvSpPr txBox="1"/>
          <p:nvPr/>
        </p:nvSpPr>
        <p:spPr>
          <a:xfrm>
            <a:off x="3383280" y="4841748"/>
            <a:ext cx="2194560" cy="256032"/>
          </a:xfrm>
          <a:prstGeom prst="rect">
            <a:avLst/>
          </a:prstGeom>
          <a:noFill/>
        </p:spPr>
        <p:txBody>
          <a:bodyPr wrap="square" lIns="0" rIns="0" tIns="0" bIns="0">
            <a:spAutoFit/>
          </a:bodyPr>
          <a:lstStyle/>
          <a:p>
            <a:pPr algn="l"/>
            <a:r>
              <a:rPr sz="1300" b="0" i="0">
                <a:solidFill>
                  <a:srgbClr val="A7B0C0"/>
                </a:solidFill>
                <a:latin typeface="Segoe UI"/>
              </a:rPr>
              <a:t>15.7 s</a:t>
            </a:r>
          </a:p>
        </p:txBody>
      </p:sp>
      <p:sp>
        <p:nvSpPr>
          <p:cNvPr id="59" name="TextBox 58"/>
          <p:cNvSpPr txBox="1"/>
          <p:nvPr/>
        </p:nvSpPr>
        <p:spPr>
          <a:xfrm>
            <a:off x="5669279" y="4841748"/>
            <a:ext cx="5882335" cy="256032"/>
          </a:xfrm>
          <a:prstGeom prst="rect">
            <a:avLst/>
          </a:prstGeom>
          <a:noFill/>
        </p:spPr>
        <p:txBody>
          <a:bodyPr wrap="square" lIns="0" rIns="0" tIns="0" bIns="0">
            <a:spAutoFit/>
          </a:bodyPr>
          <a:lstStyle/>
          <a:p>
            <a:pPr algn="l"/>
            <a:r>
              <a:rPr sz="1300" b="0" i="0">
                <a:solidFill>
                  <a:srgbClr val="A7B0C0"/>
                </a:solidFill>
                <a:latin typeface="Segoe UI"/>
              </a:rPr>
              <a:t>headline numbers logged</a:t>
            </a:r>
          </a:p>
        </p:txBody>
      </p:sp>
      <p:pic>
        <p:nvPicPr>
          <p:cNvPr id="60" name="Picture 59" descr="apacheairflow.png"/>
          <p:cNvPicPr>
            <a:picLocks noChangeAspect="1"/>
          </p:cNvPicPr>
          <p:nvPr/>
        </p:nvPicPr>
        <p:blipFill>
          <a:blip r:embed="rId2"/>
          <a:stretch>
            <a:fillRect/>
          </a:stretch>
        </p:blipFill>
        <p:spPr>
          <a:xfrm>
            <a:off x="566928" y="5266944"/>
            <a:ext cx="274320" cy="274320"/>
          </a:xfrm>
          <a:prstGeom prst="rect">
            <a:avLst/>
          </a:prstGeom>
        </p:spPr>
      </p:pic>
      <p:pic>
        <p:nvPicPr>
          <p:cNvPr id="61" name="Picture 60" descr="docker.png"/>
          <p:cNvPicPr>
            <a:picLocks noChangeAspect="1"/>
          </p:cNvPicPr>
          <p:nvPr/>
        </p:nvPicPr>
        <p:blipFill>
          <a:blip r:embed="rId3"/>
          <a:stretch>
            <a:fillRect/>
          </a:stretch>
        </p:blipFill>
        <p:spPr>
          <a:xfrm>
            <a:off x="932688" y="5266944"/>
            <a:ext cx="274320" cy="274320"/>
          </a:xfrm>
          <a:prstGeom prst="rect">
            <a:avLst/>
          </a:prstGeom>
        </p:spPr>
      </p:pic>
      <p:pic>
        <p:nvPicPr>
          <p:cNvPr id="62" name="Picture 61" descr="apachespark.png"/>
          <p:cNvPicPr>
            <a:picLocks noChangeAspect="1"/>
          </p:cNvPicPr>
          <p:nvPr/>
        </p:nvPicPr>
        <p:blipFill>
          <a:blip r:embed="rId4"/>
          <a:stretch>
            <a:fillRect/>
          </a:stretch>
        </p:blipFill>
        <p:spPr>
          <a:xfrm>
            <a:off x="1298448" y="5266944"/>
            <a:ext cx="274320" cy="274320"/>
          </a:xfrm>
          <a:prstGeom prst="rect">
            <a:avLst/>
          </a:prstGeom>
        </p:spPr>
      </p:pic>
      <p:pic>
        <p:nvPicPr>
          <p:cNvPr id="63" name="Picture 62" descr="dbt.png"/>
          <p:cNvPicPr>
            <a:picLocks noChangeAspect="1"/>
          </p:cNvPicPr>
          <p:nvPr/>
        </p:nvPicPr>
        <p:blipFill>
          <a:blip r:embed="rId5"/>
          <a:stretch>
            <a:fillRect/>
          </a:stretch>
        </p:blipFill>
        <p:spPr>
          <a:xfrm>
            <a:off x="1664207" y="5266944"/>
            <a:ext cx="274320" cy="274320"/>
          </a:xfrm>
          <a:prstGeom prst="rect">
            <a:avLst/>
          </a:prstGeom>
        </p:spPr>
      </p:pic>
      <p:sp>
        <p:nvSpPr>
          <p:cNvPr id="64" name="TextBox 63"/>
          <p:cNvSpPr txBox="1"/>
          <p:nvPr/>
        </p:nvSpPr>
        <p:spPr>
          <a:xfrm>
            <a:off x="2084831" y="5248656"/>
            <a:ext cx="9558223" cy="530352"/>
          </a:xfrm>
          <a:prstGeom prst="rect">
            <a:avLst/>
          </a:prstGeom>
          <a:noFill/>
        </p:spPr>
        <p:txBody>
          <a:bodyPr wrap="square" lIns="0" rIns="0" tIns="0" bIns="0">
            <a:spAutoFit/>
          </a:bodyPr>
          <a:lstStyle/>
          <a:p>
            <a:pPr algn="l">
              <a:lnSpc>
                <a:spcPct val="112000"/>
              </a:lnSpc>
            </a:pPr>
            <a:r>
              <a:rPr sz="1400" b="0" i="0">
                <a:solidFill>
                  <a:srgbClr val="A7B0C0"/>
                </a:solidFill>
                <a:latin typeface="Segoe UI"/>
              </a:rPr>
              <a:t>3 Docker stacks, 8 containers. Airflow triggers Spark and dbt in their own containers — it never processes the 45M rows itself.</a:t>
            </a:r>
          </a:p>
        </p:txBody>
      </p:sp>
      <p:sp>
        <p:nvSpPr>
          <p:cNvPr id="65"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66"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2DD4BF"/>
                </a:solidFill>
                <a:latin typeface="Segoe UI"/>
              </a:rPr>
              <a:t>SERVING · STREAMLIT</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Hosted in Snowflake — the demo is a URL</a:t>
            </a:r>
          </a:p>
        </p:txBody>
      </p:sp>
      <p:pic>
        <p:nvPicPr>
          <p:cNvPr id="5" name="Picture 4" descr="streamlit.png"/>
          <p:cNvPicPr>
            <a:picLocks noChangeAspect="1"/>
          </p:cNvPicPr>
          <p:nvPr/>
        </p:nvPicPr>
        <p:blipFill>
          <a:blip r:embed="rId2"/>
          <a:stretch>
            <a:fillRect/>
          </a:stretch>
        </p:blipFill>
        <p:spPr>
          <a:xfrm>
            <a:off x="10984687" y="1371600"/>
            <a:ext cx="274320" cy="274320"/>
          </a:xfrm>
          <a:prstGeom prst="rect">
            <a:avLst/>
          </a:prstGeom>
        </p:spPr>
      </p:pic>
      <p:pic>
        <p:nvPicPr>
          <p:cNvPr id="6" name="Picture 5" descr="snowflake.png"/>
          <p:cNvPicPr>
            <a:picLocks noChangeAspect="1"/>
          </p:cNvPicPr>
          <p:nvPr/>
        </p:nvPicPr>
        <p:blipFill>
          <a:blip r:embed="rId3"/>
          <a:stretch>
            <a:fillRect/>
          </a:stretch>
        </p:blipFill>
        <p:spPr>
          <a:xfrm>
            <a:off x="11350447" y="1371600"/>
            <a:ext cx="274320" cy="274320"/>
          </a:xfrm>
          <a:prstGeom prst="rect">
            <a:avLst/>
          </a:prstGeom>
        </p:spPr>
      </p:pic>
      <p:sp>
        <p:nvSpPr>
          <p:cNvPr id="7" name="TextBox 6"/>
          <p:cNvSpPr txBox="1"/>
          <p:nvPr/>
        </p:nvSpPr>
        <p:spPr>
          <a:xfrm>
            <a:off x="548640" y="1389888"/>
            <a:ext cx="10271455" cy="274320"/>
          </a:xfrm>
          <a:prstGeom prst="rect">
            <a:avLst/>
          </a:prstGeom>
          <a:noFill/>
        </p:spPr>
        <p:txBody>
          <a:bodyPr wrap="square" lIns="0" rIns="0" tIns="0" bIns="0">
            <a:spAutoFit/>
          </a:bodyPr>
          <a:lstStyle/>
          <a:p>
            <a:pPr algn="l"/>
            <a:r>
              <a:rPr sz="1400" b="0" i="0">
                <a:solidFill>
                  <a:srgbClr val="A7B0C0"/>
                </a:solidFill>
                <a:latin typeface="Segoe UI"/>
              </a:rPr>
              <a:t>Runs as DE_CAPSTONE_DBT_ROLE and computes nothing — every metric comes from the dbt macros.</a:t>
            </a:r>
          </a:p>
        </p:txBody>
      </p:sp>
      <p:pic>
        <p:nvPicPr>
          <p:cNvPr id="8" name="Picture 7" descr="dashboard_1_signals.png"/>
          <p:cNvPicPr>
            <a:picLocks noChangeAspect="1"/>
          </p:cNvPicPr>
          <p:nvPr/>
        </p:nvPicPr>
        <p:blipFill>
          <a:blip r:embed="rId4"/>
          <a:stretch>
            <a:fillRect/>
          </a:stretch>
        </p:blipFill>
        <p:spPr>
          <a:xfrm>
            <a:off x="746607" y="1719072"/>
            <a:ext cx="5166360" cy="3246649"/>
          </a:xfrm>
          <a:prstGeom prst="rect">
            <a:avLst/>
          </a:prstGeom>
        </p:spPr>
      </p:pic>
      <p:sp>
        <p:nvSpPr>
          <p:cNvPr id="9" name="imgborder"/>
          <p:cNvSpPr/>
          <p:nvPr/>
        </p:nvSpPr>
        <p:spPr>
          <a:xfrm>
            <a:off x="746607" y="1719072"/>
            <a:ext cx="5166360" cy="3246649"/>
          </a:xfrm>
          <a:prstGeom prst="rect">
            <a:avLst/>
          </a:prstGeom>
          <a:no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dashboard_3_trend.png"/>
          <p:cNvPicPr>
            <a:picLocks noChangeAspect="1"/>
          </p:cNvPicPr>
          <p:nvPr/>
        </p:nvPicPr>
        <p:blipFill>
          <a:blip r:embed="rId5"/>
          <a:stretch>
            <a:fillRect/>
          </a:stretch>
        </p:blipFill>
        <p:spPr>
          <a:xfrm>
            <a:off x="6278727" y="1719072"/>
            <a:ext cx="5166360" cy="3368885"/>
          </a:xfrm>
          <a:prstGeom prst="rect">
            <a:avLst/>
          </a:prstGeom>
        </p:spPr>
      </p:pic>
      <p:sp>
        <p:nvSpPr>
          <p:cNvPr id="11" name="imgborder"/>
          <p:cNvSpPr/>
          <p:nvPr/>
        </p:nvSpPr>
        <p:spPr>
          <a:xfrm>
            <a:off x="6278727" y="1719072"/>
            <a:ext cx="5166360" cy="3368885"/>
          </a:xfrm>
          <a:prstGeom prst="rect">
            <a:avLst/>
          </a:prstGeom>
          <a:noFill/>
          <a:ln w="127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46607" y="5234261"/>
            <a:ext cx="5166360" cy="731520"/>
          </a:xfrm>
          <a:prstGeom prst="rect">
            <a:avLst/>
          </a:prstGeom>
          <a:noFill/>
        </p:spPr>
        <p:txBody>
          <a:bodyPr wrap="square" lIns="0" rIns="0" tIns="0" bIns="0">
            <a:spAutoFit/>
          </a:bodyPr>
          <a:lstStyle/>
          <a:p>
            <a:pPr algn="l">
              <a:lnSpc>
                <a:spcPct val="115000"/>
              </a:lnSpc>
            </a:pPr>
            <a:r>
              <a:rPr sz="1400" b="1">
                <a:solidFill>
                  <a:srgbClr val="F8FAFC"/>
                </a:solidFill>
                <a:latin typeface="Segoe UI"/>
              </a:rPr>
              <a:t>Ranked candidates for one drug.  </a:t>
            </a:r>
            <a:r>
              <a:rPr sz="1400" b="0">
                <a:solidFill>
                  <a:srgbClr val="A7B0C0"/>
                </a:solidFill>
                <a:latin typeface="Segoe UI"/>
              </a:rPr>
              <a:t>Red bars are strict signals, blue bars are not flagged — the colour is a label, not a score.</a:t>
            </a:r>
          </a:p>
        </p:txBody>
      </p:sp>
      <p:sp>
        <p:nvSpPr>
          <p:cNvPr id="13" name="TextBox 12"/>
          <p:cNvSpPr txBox="1"/>
          <p:nvPr/>
        </p:nvSpPr>
        <p:spPr>
          <a:xfrm>
            <a:off x="6278727" y="5234261"/>
            <a:ext cx="5166360" cy="731520"/>
          </a:xfrm>
          <a:prstGeom prst="rect">
            <a:avLst/>
          </a:prstGeom>
          <a:noFill/>
        </p:spPr>
        <p:txBody>
          <a:bodyPr wrap="square" lIns="0" rIns="0" tIns="0" bIns="0">
            <a:spAutoFit/>
          </a:bodyPr>
          <a:lstStyle/>
          <a:p>
            <a:pPr algn="l">
              <a:lnSpc>
                <a:spcPct val="115000"/>
              </a:lnSpc>
            </a:pPr>
            <a:r>
              <a:rPr sz="1400" b="1">
                <a:solidFill>
                  <a:srgbClr val="F8FAFC"/>
                </a:solidFill>
                <a:latin typeface="Segoe UI"/>
              </a:rPr>
              <a:t>Present in all 24 months.  </a:t>
            </a:r>
            <a:r>
              <a:rPr sz="1400" b="0">
                <a:solidFill>
                  <a:srgbClr val="A7B0C0"/>
                </a:solidFill>
                <a:latin typeface="Segoe UI"/>
              </a:rPr>
              <a:t>December 2024 alone gives PRR 34.78 on 222 cases, so the signal is not one reporting spike.</a:t>
            </a:r>
          </a:p>
        </p:txBody>
      </p:sp>
      <p:sp>
        <p:nvSpPr>
          <p:cNvPr id="14"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15"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94A3B8"/>
                </a:solidFill>
                <a:latin typeface="Segoe UI"/>
              </a:rPr>
              <a:t>CI/CD · GITHUB ACTIONS</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Four workflows, eight checks</a:t>
            </a:r>
          </a:p>
        </p:txBody>
      </p:sp>
      <p:sp>
        <p:nvSpPr>
          <p:cNvPr id="5" name="Rounded Rectangle 4"/>
          <p:cNvSpPr/>
          <p:nvPr/>
        </p:nvSpPr>
        <p:spPr>
          <a:xfrm>
            <a:off x="548640" y="1499616"/>
            <a:ext cx="2581579" cy="210312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27048"/>
            <a:ext cx="76200" cy="2048255"/>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59" y="1719072"/>
            <a:ext cx="2087803" cy="1773936"/>
          </a:xfrm>
          <a:prstGeom prst="rect">
            <a:avLst/>
          </a:prstGeom>
          <a:noFill/>
        </p:spPr>
        <p:txBody>
          <a:bodyPr wrap="square" lIns="0" rIns="0" tIns="0" bIns="0">
            <a:spAutoFit/>
          </a:bodyPr>
          <a:lstStyle/>
          <a:p>
            <a:pPr algn="l">
              <a:spcAft>
                <a:spcPts val="1000"/>
              </a:spcAft>
            </a:pPr>
            <a:r>
              <a:rPr sz="1700" b="1" i="0">
                <a:solidFill>
                  <a:srgbClr val="F8FAFC"/>
                </a:solidFill>
                <a:latin typeface="Segoe UI Semibold"/>
              </a:rPr>
              <a:t>ci.yml</a:t>
            </a:r>
          </a:p>
          <a:p>
            <a:pPr algn="l">
              <a:lnSpc>
                <a:spcPct val="112000"/>
              </a:lnSpc>
              <a:spcAft>
                <a:spcPts val="700"/>
              </a:spcAft>
            </a:pPr>
            <a:r>
              <a:rPr sz="1300" b="0">
                <a:solidFill>
                  <a:srgbClr val="94A3B8"/>
                </a:solidFill>
                <a:latin typeface="Segoe UI"/>
              </a:rPr>
              <a:t>•  </a:t>
            </a:r>
            <a:r>
              <a:rPr sz="1300" b="0">
                <a:solidFill>
                  <a:srgbClr val="A7B0C0"/>
                </a:solidFill>
                <a:latin typeface="Segoe UI"/>
              </a:rPr>
              <a:t>ruff and dbt parse</a:t>
            </a:r>
          </a:p>
          <a:p>
            <a:pPr algn="l">
              <a:lnSpc>
                <a:spcPct val="112000"/>
              </a:lnSpc>
              <a:spcAft>
                <a:spcPts val="700"/>
              </a:spcAft>
            </a:pPr>
            <a:r>
              <a:rPr sz="1300" b="0">
                <a:solidFill>
                  <a:srgbClr val="94A3B8"/>
                </a:solidFill>
                <a:latin typeface="Segoe UI"/>
              </a:rPr>
              <a:t>•  </a:t>
            </a:r>
            <a:r>
              <a:rPr sz="1300" b="0">
                <a:solidFill>
                  <a:srgbClr val="A7B0C0"/>
                </a:solidFill>
                <a:latin typeface="Segoe UI"/>
              </a:rPr>
              <a:t>python syntax 3.11 + 3.12</a:t>
            </a:r>
          </a:p>
          <a:p>
            <a:pPr algn="l">
              <a:lnSpc>
                <a:spcPct val="112000"/>
              </a:lnSpc>
              <a:spcAft>
                <a:spcPts val="700"/>
              </a:spcAft>
            </a:pPr>
            <a:r>
              <a:rPr sz="1300" b="0">
                <a:solidFill>
                  <a:srgbClr val="94A3B8"/>
                </a:solidFill>
                <a:latin typeface="Segoe UI"/>
              </a:rPr>
              <a:t>•  </a:t>
            </a:r>
            <a:r>
              <a:rPr sz="1300" b="0">
                <a:solidFill>
                  <a:srgbClr val="A7B0C0"/>
                </a:solidFill>
                <a:latin typeface="Segoe UI"/>
              </a:rPr>
              <a:t>secret scan</a:t>
            </a:r>
          </a:p>
          <a:p>
            <a:pPr algn="l">
              <a:lnSpc>
                <a:spcPct val="112000"/>
              </a:lnSpc>
              <a:spcAft>
                <a:spcPts val="700"/>
              </a:spcAft>
            </a:pPr>
            <a:r>
              <a:rPr sz="1300" b="0">
                <a:solidFill>
                  <a:srgbClr val="94A3B8"/>
                </a:solidFill>
                <a:latin typeface="Segoe UI"/>
              </a:rPr>
              <a:t>•  </a:t>
            </a:r>
            <a:r>
              <a:rPr sz="1300" b="0">
                <a:solidFill>
                  <a:srgbClr val="A7B0C0"/>
                </a:solidFill>
                <a:latin typeface="Segoe UI"/>
              </a:rPr>
              <a:t>pytest, 21 tests</a:t>
            </a:r>
          </a:p>
        </p:txBody>
      </p:sp>
      <p:sp>
        <p:nvSpPr>
          <p:cNvPr id="8" name="Rounded Rectangle 7"/>
          <p:cNvSpPr/>
          <p:nvPr/>
        </p:nvSpPr>
        <p:spPr>
          <a:xfrm>
            <a:off x="3386251" y="1499616"/>
            <a:ext cx="2581579" cy="210312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386251" y="1527048"/>
            <a:ext cx="76200" cy="2048255"/>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60571" y="1719072"/>
            <a:ext cx="2087803" cy="1773936"/>
          </a:xfrm>
          <a:prstGeom prst="rect">
            <a:avLst/>
          </a:prstGeom>
          <a:noFill/>
        </p:spPr>
        <p:txBody>
          <a:bodyPr wrap="square" lIns="0" rIns="0" tIns="0" bIns="0">
            <a:spAutoFit/>
          </a:bodyPr>
          <a:lstStyle/>
          <a:p>
            <a:pPr algn="l">
              <a:spcAft>
                <a:spcPts val="1000"/>
              </a:spcAft>
            </a:pPr>
            <a:r>
              <a:rPr sz="1700" b="1" i="0">
                <a:solidFill>
                  <a:srgbClr val="F8FAFC"/>
                </a:solidFill>
                <a:latin typeface="Segoe UI Semibold"/>
              </a:rPr>
              <a:t>dbt-ci.yml</a:t>
            </a:r>
          </a:p>
          <a:p>
            <a:pPr algn="l">
              <a:lnSpc>
                <a:spcPct val="112000"/>
              </a:lnSpc>
              <a:spcAft>
                <a:spcPts val="700"/>
              </a:spcAft>
            </a:pPr>
            <a:r>
              <a:rPr sz="1300" b="0">
                <a:solidFill>
                  <a:srgbClr val="94A3B8"/>
                </a:solidFill>
                <a:latin typeface="Segoe UI"/>
              </a:rPr>
              <a:t>•  </a:t>
            </a:r>
            <a:r>
              <a:rPr sz="1300" b="0">
                <a:solidFill>
                  <a:srgbClr val="A7B0C0"/>
                </a:solidFill>
                <a:latin typeface="Segoe UI"/>
              </a:rPr>
              <a:t>dbt build into DBT_CI</a:t>
            </a:r>
          </a:p>
          <a:p>
            <a:pPr algn="l">
              <a:lnSpc>
                <a:spcPct val="112000"/>
              </a:lnSpc>
              <a:spcAft>
                <a:spcPts val="700"/>
              </a:spcAft>
            </a:pPr>
            <a:r>
              <a:rPr sz="1300" b="0">
                <a:solidFill>
                  <a:srgbClr val="94A3B8"/>
                </a:solidFill>
                <a:latin typeface="Segoe UI"/>
              </a:rPr>
              <a:t>•  </a:t>
            </a:r>
            <a:r>
              <a:rPr sz="1300" b="0">
                <a:solidFill>
                  <a:srgbClr val="A7B0C0"/>
                </a:solidFill>
                <a:latin typeface="Segoe UI"/>
              </a:rPr>
              <a:t>PASS=53 in 1 m 17 s</a:t>
            </a:r>
          </a:p>
          <a:p>
            <a:pPr algn="l">
              <a:lnSpc>
                <a:spcPct val="112000"/>
              </a:lnSpc>
              <a:spcAft>
                <a:spcPts val="700"/>
              </a:spcAft>
            </a:pPr>
            <a:r>
              <a:rPr sz="1300" b="0">
                <a:solidFill>
                  <a:srgbClr val="94A3B8"/>
                </a:solidFill>
                <a:latin typeface="Segoe UI"/>
              </a:rPr>
              <a:t>•  </a:t>
            </a:r>
            <a:r>
              <a:rPr sz="1300" b="0">
                <a:solidFill>
                  <a:srgbClr val="A7B0C0"/>
                </a:solidFill>
                <a:latin typeface="Segoe UI"/>
              </a:rPr>
              <a:t>clean machine, same result</a:t>
            </a:r>
          </a:p>
        </p:txBody>
      </p:sp>
      <p:sp>
        <p:nvSpPr>
          <p:cNvPr id="11" name="Rounded Rectangle 10"/>
          <p:cNvSpPr/>
          <p:nvPr/>
        </p:nvSpPr>
        <p:spPr>
          <a:xfrm>
            <a:off x="6223863" y="1499616"/>
            <a:ext cx="2581579" cy="210312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3863" y="1527048"/>
            <a:ext cx="76200" cy="2048255"/>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8183" y="1719072"/>
            <a:ext cx="2087803" cy="1773936"/>
          </a:xfrm>
          <a:prstGeom prst="rect">
            <a:avLst/>
          </a:prstGeom>
          <a:noFill/>
        </p:spPr>
        <p:txBody>
          <a:bodyPr wrap="square" lIns="0" rIns="0" tIns="0" bIns="0">
            <a:spAutoFit/>
          </a:bodyPr>
          <a:lstStyle/>
          <a:p>
            <a:pPr algn="l">
              <a:spcAft>
                <a:spcPts val="1000"/>
              </a:spcAft>
            </a:pPr>
            <a:r>
              <a:rPr sz="1700" b="1" i="0">
                <a:solidFill>
                  <a:srgbClr val="F8FAFC"/>
                </a:solidFill>
                <a:latin typeface="Segoe UI Semibold"/>
              </a:rPr>
              <a:t>s3-contract.yml</a:t>
            </a:r>
          </a:p>
          <a:p>
            <a:pPr algn="l">
              <a:lnSpc>
                <a:spcPct val="112000"/>
              </a:lnSpc>
              <a:spcAft>
                <a:spcPts val="700"/>
              </a:spcAft>
            </a:pPr>
            <a:r>
              <a:rPr sz="1300" b="0">
                <a:solidFill>
                  <a:srgbClr val="94A3B8"/>
                </a:solidFill>
                <a:latin typeface="Segoe UI"/>
              </a:rPr>
              <a:t>•  </a:t>
            </a:r>
            <a:r>
              <a:rPr sz="1300" b="0">
                <a:solidFill>
                  <a:srgbClr val="A7B0C0"/>
                </a:solidFill>
                <a:latin typeface="Segoe UI"/>
              </a:rPr>
              <a:t>486 objects</a:t>
            </a:r>
          </a:p>
          <a:p>
            <a:pPr algn="l">
              <a:lnSpc>
                <a:spcPct val="112000"/>
              </a:lnSpc>
              <a:spcAft>
                <a:spcPts val="700"/>
              </a:spcAft>
            </a:pPr>
            <a:r>
              <a:rPr sz="1300" b="0">
                <a:solidFill>
                  <a:srgbClr val="94A3B8"/>
                </a:solidFill>
                <a:latin typeface="Segoe UI"/>
              </a:rPr>
              <a:t>•  </a:t>
            </a:r>
            <a:r>
              <a:rPr sz="1300" b="0">
                <a:solidFill>
                  <a:srgbClr val="A7B0C0"/>
                </a:solidFill>
                <a:latin typeface="Segoe UI"/>
              </a:rPr>
              <a:t>3,913,635,942 bytes</a:t>
            </a:r>
          </a:p>
          <a:p>
            <a:pPr algn="l">
              <a:lnSpc>
                <a:spcPct val="112000"/>
              </a:lnSpc>
              <a:spcAft>
                <a:spcPts val="700"/>
              </a:spcAft>
            </a:pPr>
            <a:r>
              <a:rPr sz="1300" b="0">
                <a:solidFill>
                  <a:srgbClr val="94A3B8"/>
                </a:solidFill>
                <a:latin typeface="Segoe UI"/>
              </a:rPr>
              <a:t>•  </a:t>
            </a:r>
            <a:r>
              <a:rPr sz="1300" b="0">
                <a:solidFill>
                  <a:srgbClr val="A7B0C0"/>
                </a:solidFill>
                <a:latin typeface="Segoe UI"/>
              </a:rPr>
              <a:t>read-only, cannot alter it</a:t>
            </a:r>
          </a:p>
        </p:txBody>
      </p:sp>
      <p:sp>
        <p:nvSpPr>
          <p:cNvPr id="14" name="Rounded Rectangle 13"/>
          <p:cNvSpPr/>
          <p:nvPr/>
        </p:nvSpPr>
        <p:spPr>
          <a:xfrm>
            <a:off x="9061475" y="1499616"/>
            <a:ext cx="2581579" cy="210312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061475" y="1527048"/>
            <a:ext cx="76200" cy="2048255"/>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35795" y="1719072"/>
            <a:ext cx="2087803" cy="1773936"/>
          </a:xfrm>
          <a:prstGeom prst="rect">
            <a:avLst/>
          </a:prstGeom>
          <a:noFill/>
        </p:spPr>
        <p:txBody>
          <a:bodyPr wrap="square" lIns="0" rIns="0" tIns="0" bIns="0">
            <a:spAutoFit/>
          </a:bodyPr>
          <a:lstStyle/>
          <a:p>
            <a:pPr algn="l">
              <a:spcAft>
                <a:spcPts val="1000"/>
              </a:spcAft>
            </a:pPr>
            <a:r>
              <a:rPr sz="1700" b="1" i="0">
                <a:solidFill>
                  <a:srgbClr val="F8FAFC"/>
                </a:solidFill>
                <a:latin typeface="Segoe UI Semibold"/>
              </a:rPr>
              <a:t>terraform.yml</a:t>
            </a:r>
          </a:p>
          <a:p>
            <a:pPr algn="l">
              <a:lnSpc>
                <a:spcPct val="112000"/>
              </a:lnSpc>
              <a:spcAft>
                <a:spcPts val="700"/>
              </a:spcAft>
            </a:pPr>
            <a:r>
              <a:rPr sz="1300" b="0">
                <a:solidFill>
                  <a:srgbClr val="94A3B8"/>
                </a:solidFill>
                <a:latin typeface="Segoe UI"/>
              </a:rPr>
              <a:t>•  </a:t>
            </a:r>
            <a:r>
              <a:rPr sz="1300" b="0">
                <a:solidFill>
                  <a:srgbClr val="A7B0C0"/>
                </a:solidFill>
                <a:latin typeface="Segoe UI"/>
              </a:rPr>
              <a:t>plan on every pull request</a:t>
            </a:r>
          </a:p>
          <a:p>
            <a:pPr algn="l">
              <a:lnSpc>
                <a:spcPct val="112000"/>
              </a:lnSpc>
              <a:spcAft>
                <a:spcPts val="700"/>
              </a:spcAft>
            </a:pPr>
            <a:r>
              <a:rPr sz="1300" b="0">
                <a:solidFill>
                  <a:srgbClr val="94A3B8"/>
                </a:solidFill>
                <a:latin typeface="Segoe UI"/>
              </a:rPr>
              <a:t>•  </a:t>
            </a:r>
            <a:r>
              <a:rPr sz="1300" b="0">
                <a:solidFill>
                  <a:srgbClr val="A7B0C0"/>
                </a:solidFill>
                <a:latin typeface="Segoe UI"/>
              </a:rPr>
              <a:t>manual apply</a:t>
            </a:r>
          </a:p>
          <a:p>
            <a:pPr algn="l">
              <a:lnSpc>
                <a:spcPct val="112000"/>
              </a:lnSpc>
              <a:spcAft>
                <a:spcPts val="700"/>
              </a:spcAft>
            </a:pPr>
            <a:r>
              <a:rPr sz="1300" b="0">
                <a:solidFill>
                  <a:srgbClr val="94A3B8"/>
                </a:solidFill>
                <a:latin typeface="Segoe UI"/>
              </a:rPr>
              <a:t>•  </a:t>
            </a:r>
            <a:r>
              <a:rPr sz="1300" b="0">
                <a:solidFill>
                  <a:srgbClr val="A7B0C0"/>
                </a:solidFill>
                <a:latin typeface="Segoe UI"/>
              </a:rPr>
              <a:t>imported, never recreated</a:t>
            </a:r>
          </a:p>
        </p:txBody>
      </p:sp>
      <p:sp>
        <p:nvSpPr>
          <p:cNvPr id="17" name="Rounded Rectangle 16"/>
          <p:cNvSpPr/>
          <p:nvPr/>
        </p:nvSpPr>
        <p:spPr>
          <a:xfrm>
            <a:off x="548640" y="3767328"/>
            <a:ext cx="5382615" cy="129844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8640" y="3794760"/>
            <a:ext cx="76200" cy="1243584"/>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1247" y="3968496"/>
            <a:ext cx="4852263" cy="969264"/>
          </a:xfrm>
          <a:prstGeom prst="rect">
            <a:avLst/>
          </a:prstGeom>
          <a:noFill/>
        </p:spPr>
        <p:txBody>
          <a:bodyPr wrap="square" lIns="0" rIns="0" tIns="0" bIns="0">
            <a:spAutoFit/>
          </a:bodyPr>
          <a:lstStyle/>
          <a:p>
            <a:pPr algn="l">
              <a:spcAft>
                <a:spcPts val="700"/>
              </a:spcAft>
            </a:pPr>
            <a:r>
              <a:rPr sz="1700" b="1" i="0">
                <a:solidFill>
                  <a:srgbClr val="F8FAFC"/>
                </a:solidFill>
                <a:latin typeface="Segoe UI Semibold"/>
              </a:rPr>
              <a:t>Secret scan went red in 7 seconds</a:t>
            </a:r>
          </a:p>
          <a:p>
            <a:pPr algn="l">
              <a:lnSpc>
                <a:spcPct val="114000"/>
              </a:lnSpc>
            </a:pPr>
            <a:r>
              <a:rPr sz="1400" b="0" i="0">
                <a:solidFill>
                  <a:srgbClr val="A7B0C0"/>
                </a:solidFill>
                <a:latin typeface="Segoe UI"/>
              </a:rPr>
              <a:t>A planted SNOWFLAKE_PASSWORD failed the build, printing only the file and the line — never the value.</a:t>
            </a:r>
          </a:p>
        </p:txBody>
      </p:sp>
      <p:sp>
        <p:nvSpPr>
          <p:cNvPr id="20" name="Rounded Rectangle 19"/>
          <p:cNvSpPr/>
          <p:nvPr/>
        </p:nvSpPr>
        <p:spPr>
          <a:xfrm>
            <a:off x="6260439" y="3767328"/>
            <a:ext cx="5382615" cy="129844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260439" y="3794760"/>
            <a:ext cx="76200" cy="1243584"/>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53047" y="3968496"/>
            <a:ext cx="4852263" cy="969264"/>
          </a:xfrm>
          <a:prstGeom prst="rect">
            <a:avLst/>
          </a:prstGeom>
          <a:noFill/>
        </p:spPr>
        <p:txBody>
          <a:bodyPr wrap="square" lIns="0" rIns="0" tIns="0" bIns="0">
            <a:spAutoFit/>
          </a:bodyPr>
          <a:lstStyle/>
          <a:p>
            <a:pPr algn="l">
              <a:spcAft>
                <a:spcPts val="700"/>
              </a:spcAft>
            </a:pPr>
            <a:r>
              <a:rPr sz="1700" b="1" i="0">
                <a:solidFill>
                  <a:srgbClr val="F8FAFC"/>
                </a:solidFill>
                <a:latin typeface="Segoe UI Semibold"/>
              </a:rPr>
              <a:t>S3 contract went red on 2,698 bytes</a:t>
            </a:r>
          </a:p>
          <a:p>
            <a:pPr algn="l">
              <a:lnSpc>
                <a:spcPct val="114000"/>
              </a:lnSpc>
            </a:pPr>
            <a:r>
              <a:rPr sz="1400" b="0" i="0">
                <a:solidFill>
                  <a:srgbClr val="A7B0C0"/>
                </a:solidFill>
                <a:latin typeface="Segoe UI"/>
              </a:rPr>
              <a:t>The object count matched exactly, which is why the check asserts both numbers and not just the count.</a:t>
            </a:r>
          </a:p>
        </p:txBody>
      </p:sp>
      <p:pic>
        <p:nvPicPr>
          <p:cNvPr id="23" name="Picture 22" descr="githubactions.png"/>
          <p:cNvPicPr>
            <a:picLocks noChangeAspect="1"/>
          </p:cNvPicPr>
          <p:nvPr/>
        </p:nvPicPr>
        <p:blipFill>
          <a:blip r:embed="rId2"/>
          <a:stretch>
            <a:fillRect/>
          </a:stretch>
        </p:blipFill>
        <p:spPr>
          <a:xfrm>
            <a:off x="548640" y="5248656"/>
            <a:ext cx="274320" cy="274320"/>
          </a:xfrm>
          <a:prstGeom prst="rect">
            <a:avLst/>
          </a:prstGeom>
        </p:spPr>
      </p:pic>
      <p:pic>
        <p:nvPicPr>
          <p:cNvPr id="24" name="Picture 23" descr="terraform.png"/>
          <p:cNvPicPr>
            <a:picLocks noChangeAspect="1"/>
          </p:cNvPicPr>
          <p:nvPr/>
        </p:nvPicPr>
        <p:blipFill>
          <a:blip r:embed="rId3"/>
          <a:stretch>
            <a:fillRect/>
          </a:stretch>
        </p:blipFill>
        <p:spPr>
          <a:xfrm>
            <a:off x="914400" y="5248656"/>
            <a:ext cx="274320" cy="274320"/>
          </a:xfrm>
          <a:prstGeom prst="rect">
            <a:avLst/>
          </a:prstGeom>
        </p:spPr>
      </p:pic>
      <p:sp>
        <p:nvSpPr>
          <p:cNvPr id="25" name="TextBox 24"/>
          <p:cNvSpPr txBox="1"/>
          <p:nvPr/>
        </p:nvSpPr>
        <p:spPr>
          <a:xfrm>
            <a:off x="1298448" y="5230368"/>
            <a:ext cx="10344607" cy="402336"/>
          </a:xfrm>
          <a:prstGeom prst="rect">
            <a:avLst/>
          </a:prstGeom>
          <a:noFill/>
        </p:spPr>
        <p:txBody>
          <a:bodyPr wrap="square" lIns="0" rIns="0" tIns="0" bIns="0">
            <a:spAutoFit/>
          </a:bodyPr>
          <a:lstStyle/>
          <a:p>
            <a:pPr algn="l">
              <a:lnSpc>
                <a:spcPct val="112000"/>
              </a:lnSpc>
            </a:pPr>
            <a:r>
              <a:rPr sz="1500" b="0" i="0">
                <a:solidFill>
                  <a:srgbClr val="A7B0C0"/>
                </a:solidFill>
                <a:latin typeface="Segoe UI"/>
              </a:rPr>
              <a:t>A green tick shows the workflow ran. Each gate was made to refuse something on purpose, which is what shows it works.</a:t>
            </a:r>
          </a:p>
        </p:txBody>
      </p:sp>
      <p:sp>
        <p:nvSpPr>
          <p:cNvPr id="26"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27"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22C55E"/>
                </a:solidFill>
                <a:latin typeface="Segoe UI"/>
              </a:rPr>
              <a:t>SECURITY</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No password, no access key, anywhere in the project</a:t>
            </a:r>
          </a:p>
        </p:txBody>
      </p:sp>
      <p:sp>
        <p:nvSpPr>
          <p:cNvPr id="5" name="Rounded Rectangle 4"/>
          <p:cNvSpPr/>
          <p:nvPr/>
        </p:nvSpPr>
        <p:spPr>
          <a:xfrm>
            <a:off x="548640" y="1499616"/>
            <a:ext cx="2581579" cy="239572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27048"/>
            <a:ext cx="76200" cy="2340864"/>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mazonwebservices.png"/>
          <p:cNvPicPr>
            <a:picLocks noChangeAspect="1"/>
          </p:cNvPicPr>
          <p:nvPr/>
        </p:nvPicPr>
        <p:blipFill>
          <a:blip r:embed="rId2"/>
          <a:stretch>
            <a:fillRect/>
          </a:stretch>
        </p:blipFill>
        <p:spPr>
          <a:xfrm>
            <a:off x="822959" y="1719072"/>
            <a:ext cx="292608" cy="292608"/>
          </a:xfrm>
          <a:prstGeom prst="rect">
            <a:avLst/>
          </a:prstGeom>
        </p:spPr>
      </p:pic>
      <p:sp>
        <p:nvSpPr>
          <p:cNvPr id="8" name="TextBox 7"/>
          <p:cNvSpPr txBox="1"/>
          <p:nvPr/>
        </p:nvSpPr>
        <p:spPr>
          <a:xfrm>
            <a:off x="822959" y="2121408"/>
            <a:ext cx="2087803" cy="1682496"/>
          </a:xfrm>
          <a:prstGeom prst="rect">
            <a:avLst/>
          </a:prstGeom>
          <a:noFill/>
        </p:spPr>
        <p:txBody>
          <a:bodyPr wrap="square" lIns="0" rIns="0" tIns="0" bIns="0">
            <a:spAutoFit/>
          </a:bodyPr>
          <a:lstStyle/>
          <a:p>
            <a:pPr algn="l">
              <a:spcAft>
                <a:spcPts val="900"/>
              </a:spcAft>
            </a:pPr>
            <a:r>
              <a:rPr sz="1700" b="1" i="0">
                <a:solidFill>
                  <a:srgbClr val="F8FAFC"/>
                </a:solidFill>
                <a:latin typeface="Segoe UI Semibold"/>
              </a:rPr>
              <a:t>OIDC to AWS</a:t>
            </a:r>
          </a:p>
          <a:p>
            <a:pPr algn="l">
              <a:lnSpc>
                <a:spcPct val="116000"/>
              </a:lnSpc>
            </a:pPr>
            <a:r>
              <a:rPr sz="1300" b="0" i="0">
                <a:solidFill>
                  <a:srgbClr val="A7B0C0"/>
                </a:solidFill>
                <a:latin typeface="Segoe UI"/>
              </a:rPr>
              <a:t>A short-lived token is minted per job and exchanged for temporary credentials. There is no stored AWS access key.</a:t>
            </a:r>
          </a:p>
        </p:txBody>
      </p:sp>
      <p:sp>
        <p:nvSpPr>
          <p:cNvPr id="9" name="Rounded Rectangle 8"/>
          <p:cNvSpPr/>
          <p:nvPr/>
        </p:nvSpPr>
        <p:spPr>
          <a:xfrm>
            <a:off x="3386251" y="1499616"/>
            <a:ext cx="2581579" cy="239572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386251" y="1527048"/>
            <a:ext cx="76200" cy="2340864"/>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nowflake.png"/>
          <p:cNvPicPr>
            <a:picLocks noChangeAspect="1"/>
          </p:cNvPicPr>
          <p:nvPr/>
        </p:nvPicPr>
        <p:blipFill>
          <a:blip r:embed="rId3"/>
          <a:stretch>
            <a:fillRect/>
          </a:stretch>
        </p:blipFill>
        <p:spPr>
          <a:xfrm>
            <a:off x="3660571" y="1719072"/>
            <a:ext cx="292608" cy="292608"/>
          </a:xfrm>
          <a:prstGeom prst="rect">
            <a:avLst/>
          </a:prstGeom>
        </p:spPr>
      </p:pic>
      <p:sp>
        <p:nvSpPr>
          <p:cNvPr id="12" name="TextBox 11"/>
          <p:cNvSpPr txBox="1"/>
          <p:nvPr/>
        </p:nvSpPr>
        <p:spPr>
          <a:xfrm>
            <a:off x="3660571" y="2121408"/>
            <a:ext cx="2087803" cy="1682496"/>
          </a:xfrm>
          <a:prstGeom prst="rect">
            <a:avLst/>
          </a:prstGeom>
          <a:noFill/>
        </p:spPr>
        <p:txBody>
          <a:bodyPr wrap="square" lIns="0" rIns="0" tIns="0" bIns="0">
            <a:spAutoFit/>
          </a:bodyPr>
          <a:lstStyle/>
          <a:p>
            <a:pPr algn="l">
              <a:spcAft>
                <a:spcPts val="900"/>
              </a:spcAft>
            </a:pPr>
            <a:r>
              <a:rPr sz="1700" b="1" i="0">
                <a:solidFill>
                  <a:srgbClr val="F8FAFC"/>
                </a:solidFill>
                <a:latin typeface="Segoe UI Semibold"/>
              </a:rPr>
              <a:t>Key-pair auth</a:t>
            </a:r>
          </a:p>
          <a:p>
            <a:pPr algn="l">
              <a:lnSpc>
                <a:spcPct val="116000"/>
              </a:lnSpc>
            </a:pPr>
            <a:r>
              <a:rPr sz="1300" b="0" i="0">
                <a:solidFill>
                  <a:srgbClr val="A7B0C0"/>
                </a:solidFill>
                <a:latin typeface="Segoe UI"/>
              </a:rPr>
              <a:t>The pipeline runs as a service identity. Service users cannot have a password, and the key lives outside the repository.</a:t>
            </a:r>
          </a:p>
        </p:txBody>
      </p:sp>
      <p:sp>
        <p:nvSpPr>
          <p:cNvPr id="13" name="Rounded Rectangle 12"/>
          <p:cNvSpPr/>
          <p:nvPr/>
        </p:nvSpPr>
        <p:spPr>
          <a:xfrm>
            <a:off x="6223863" y="1499616"/>
            <a:ext cx="2581579" cy="239572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23863" y="1527048"/>
            <a:ext cx="76200" cy="2340864"/>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githubactions.png"/>
          <p:cNvPicPr>
            <a:picLocks noChangeAspect="1"/>
          </p:cNvPicPr>
          <p:nvPr/>
        </p:nvPicPr>
        <p:blipFill>
          <a:blip r:embed="rId4"/>
          <a:stretch>
            <a:fillRect/>
          </a:stretch>
        </p:blipFill>
        <p:spPr>
          <a:xfrm>
            <a:off x="6498183" y="1719072"/>
            <a:ext cx="292608" cy="292608"/>
          </a:xfrm>
          <a:prstGeom prst="rect">
            <a:avLst/>
          </a:prstGeom>
        </p:spPr>
      </p:pic>
      <p:sp>
        <p:nvSpPr>
          <p:cNvPr id="16" name="TextBox 15"/>
          <p:cNvSpPr txBox="1"/>
          <p:nvPr/>
        </p:nvSpPr>
        <p:spPr>
          <a:xfrm>
            <a:off x="6498183" y="2121408"/>
            <a:ext cx="2087803" cy="1682496"/>
          </a:xfrm>
          <a:prstGeom prst="rect">
            <a:avLst/>
          </a:prstGeom>
          <a:noFill/>
        </p:spPr>
        <p:txBody>
          <a:bodyPr wrap="square" lIns="0" rIns="0" tIns="0" bIns="0">
            <a:spAutoFit/>
          </a:bodyPr>
          <a:lstStyle/>
          <a:p>
            <a:pPr algn="l">
              <a:spcAft>
                <a:spcPts val="900"/>
              </a:spcAft>
            </a:pPr>
            <a:r>
              <a:rPr sz="1700" b="1" i="0">
                <a:solidFill>
                  <a:srgbClr val="F8FAFC"/>
                </a:solidFill>
                <a:latin typeface="Segoe UI Semibold"/>
              </a:rPr>
              <a:t>Least privilege</a:t>
            </a:r>
          </a:p>
          <a:p>
            <a:pPr algn="l">
              <a:lnSpc>
                <a:spcPct val="116000"/>
              </a:lnSpc>
            </a:pPr>
            <a:r>
              <a:rPr sz="1300" b="0" i="0">
                <a:solidFill>
                  <a:srgbClr val="A7B0C0"/>
                </a:solidFill>
                <a:latin typeface="Segoe UI"/>
              </a:rPr>
              <a:t>The CI identity holds 8 grants: read-only on RAW, its own build schema, and nothing on production.</a:t>
            </a:r>
          </a:p>
        </p:txBody>
      </p:sp>
      <p:sp>
        <p:nvSpPr>
          <p:cNvPr id="17" name="Rounded Rectangle 16"/>
          <p:cNvSpPr/>
          <p:nvPr/>
        </p:nvSpPr>
        <p:spPr>
          <a:xfrm>
            <a:off x="9061475" y="1499616"/>
            <a:ext cx="2581579" cy="2395728"/>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061475" y="1527048"/>
            <a:ext cx="76200" cy="2340864"/>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terraform.png"/>
          <p:cNvPicPr>
            <a:picLocks noChangeAspect="1"/>
          </p:cNvPicPr>
          <p:nvPr/>
        </p:nvPicPr>
        <p:blipFill>
          <a:blip r:embed="rId5"/>
          <a:stretch>
            <a:fillRect/>
          </a:stretch>
        </p:blipFill>
        <p:spPr>
          <a:xfrm>
            <a:off x="9335795" y="1719072"/>
            <a:ext cx="292608" cy="292608"/>
          </a:xfrm>
          <a:prstGeom prst="rect">
            <a:avLst/>
          </a:prstGeom>
        </p:spPr>
      </p:pic>
      <p:sp>
        <p:nvSpPr>
          <p:cNvPr id="20" name="TextBox 19"/>
          <p:cNvSpPr txBox="1"/>
          <p:nvPr/>
        </p:nvSpPr>
        <p:spPr>
          <a:xfrm>
            <a:off x="9335795" y="2121408"/>
            <a:ext cx="2087803" cy="1682496"/>
          </a:xfrm>
          <a:prstGeom prst="rect">
            <a:avLst/>
          </a:prstGeom>
          <a:noFill/>
        </p:spPr>
        <p:txBody>
          <a:bodyPr wrap="square" lIns="0" rIns="0" tIns="0" bIns="0">
            <a:spAutoFit/>
          </a:bodyPr>
          <a:lstStyle/>
          <a:p>
            <a:pPr algn="l">
              <a:spcAft>
                <a:spcPts val="900"/>
              </a:spcAft>
            </a:pPr>
            <a:r>
              <a:rPr sz="1700" b="1" i="0">
                <a:solidFill>
                  <a:srgbClr val="F8FAFC"/>
                </a:solidFill>
                <a:latin typeface="Segoe UI Semibold"/>
              </a:rPr>
              <a:t>Terraform</a:t>
            </a:r>
          </a:p>
          <a:p>
            <a:pPr algn="l">
              <a:lnSpc>
                <a:spcPct val="116000"/>
              </a:lnSpc>
            </a:pPr>
            <a:r>
              <a:rPr sz="1300" b="0" i="0">
                <a:solidFill>
                  <a:srgbClr val="A7B0C0"/>
                </a:solidFill>
                <a:latin typeface="Segoe UI"/>
              </a:rPr>
              <a:t>Manages exactly 2 objects, imported rather than recreated. The second plan reports no changes.</a:t>
            </a:r>
          </a:p>
        </p:txBody>
      </p:sp>
      <p:sp>
        <p:nvSpPr>
          <p:cNvPr id="21" name="Rounded Rectangle 20"/>
          <p:cNvSpPr/>
          <p:nvPr/>
        </p:nvSpPr>
        <p:spPr>
          <a:xfrm>
            <a:off x="548640" y="4059936"/>
            <a:ext cx="11094415" cy="768096"/>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48640" y="4087368"/>
            <a:ext cx="76200" cy="713232"/>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9536" y="4224528"/>
            <a:ext cx="10527487" cy="475488"/>
          </a:xfrm>
          <a:prstGeom prst="rect">
            <a:avLst/>
          </a:prstGeom>
          <a:noFill/>
        </p:spPr>
        <p:txBody>
          <a:bodyPr wrap="square" lIns="0" rIns="0" tIns="0" bIns="0">
            <a:spAutoFit/>
          </a:bodyPr>
          <a:lstStyle/>
          <a:p>
            <a:pPr algn="l">
              <a:lnSpc>
                <a:spcPct val="114000"/>
              </a:lnSpc>
            </a:pPr>
            <a:r>
              <a:rPr sz="1500" b="1">
                <a:solidFill>
                  <a:srgbClr val="F8FAFC"/>
                </a:solidFill>
                <a:latin typeface="Segoe UI"/>
              </a:rPr>
              <a:t>Proven, not asserted.  </a:t>
            </a:r>
            <a:r>
              <a:rPr sz="1500" b="0">
                <a:solidFill>
                  <a:srgbClr val="A7B0C0"/>
                </a:solidFill>
                <a:latin typeface="Segoe UI"/>
              </a:rPr>
              <a:t>Acting as the CI role, SELECT on RAW succeeded and SELECT on the production schema failed with “not authorized”. Isolation is a privilege, not a line of config.</a:t>
            </a:r>
          </a:p>
        </p:txBody>
      </p:sp>
      <p:sp>
        <p:nvSpPr>
          <p:cNvPr id="24" name="Rounded Rectangle 23"/>
          <p:cNvSpPr/>
          <p:nvPr/>
        </p:nvSpPr>
        <p:spPr>
          <a:xfrm>
            <a:off x="548640" y="4956048"/>
            <a:ext cx="11094415" cy="768096"/>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48640" y="4983480"/>
            <a:ext cx="76200" cy="713232"/>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5120640"/>
            <a:ext cx="10527487" cy="475488"/>
          </a:xfrm>
          <a:prstGeom prst="rect">
            <a:avLst/>
          </a:prstGeom>
          <a:noFill/>
        </p:spPr>
        <p:txBody>
          <a:bodyPr wrap="square" lIns="0" rIns="0" tIns="0" bIns="0">
            <a:spAutoFit/>
          </a:bodyPr>
          <a:lstStyle/>
          <a:p>
            <a:pPr algn="l">
              <a:lnSpc>
                <a:spcPct val="114000"/>
              </a:lnSpc>
            </a:pPr>
            <a:r>
              <a:rPr sz="1500" b="1">
                <a:solidFill>
                  <a:srgbClr val="F8FAFC"/>
                </a:solidFill>
                <a:latin typeface="Segoe UI"/>
              </a:rPr>
              <a:t>Stated limitation.  </a:t>
            </a:r>
            <a:r>
              <a:rPr sz="1500" b="0">
                <a:solidFill>
                  <a:srgbClr val="A7B0C0"/>
                </a:solidFill>
                <a:latin typeface="Segoe UI"/>
              </a:rPr>
              <a:t>Branch protection is configured but not enforced, because GitHub does not apply rulesets to private repositories on this plan. The workflow detects; branch protection enforces.</a:t>
            </a:r>
          </a:p>
        </p:txBody>
      </p:sp>
      <p:sp>
        <p:nvSpPr>
          <p:cNvPr id="27"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28"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F87171"/>
                </a:solidFill>
                <a:latin typeface="Segoe UI"/>
              </a:rPr>
              <a:t>WHAT BROKE</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Four failures, and what each one taught</a:t>
            </a:r>
          </a:p>
        </p:txBody>
      </p:sp>
      <p:sp>
        <p:nvSpPr>
          <p:cNvPr id="5" name="Rounded Rectangle 4"/>
          <p:cNvSpPr/>
          <p:nvPr/>
        </p:nvSpPr>
        <p:spPr>
          <a:xfrm>
            <a:off x="548640" y="1463040"/>
            <a:ext cx="11094415" cy="1042415"/>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490472"/>
            <a:ext cx="76200" cy="987551"/>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9536" y="1581912"/>
            <a:ext cx="10527487" cy="822960"/>
          </a:xfrm>
          <a:prstGeom prst="rect">
            <a:avLst/>
          </a:prstGeom>
          <a:noFill/>
        </p:spPr>
        <p:txBody>
          <a:bodyPr wrap="square" lIns="0" rIns="0" tIns="0" bIns="0">
            <a:spAutoFit/>
          </a:bodyPr>
          <a:lstStyle/>
          <a:p>
            <a:pPr algn="l">
              <a:lnSpc>
                <a:spcPct val="112000"/>
              </a:lnSpc>
              <a:spcAft>
                <a:spcPts val="400"/>
              </a:spcAft>
            </a:pPr>
            <a:r>
              <a:rPr sz="1500" b="1">
                <a:solidFill>
                  <a:srgbClr val="F8FAFC"/>
                </a:solidFill>
                <a:latin typeface="Segoe UI"/>
              </a:rPr>
              <a:t>aws s3 sync without --delete is additive</a:t>
            </a:r>
            <a:r>
              <a:rPr sz="1500" b="0">
                <a:solidFill>
                  <a:srgbClr val="F8FAFC"/>
                </a:solidFill>
                <a:latin typeface="Segoe UI"/>
              </a:rPr>
              <a:t>    </a:t>
            </a:r>
            <a:r>
              <a:rPr sz="1500" b="0">
                <a:solidFill>
                  <a:srgbClr val="A7B0C0"/>
                </a:solidFill>
                <a:latin typeface="Segoe UI"/>
              </a:rPr>
              <a:t>The prefix held 499 objects instead of 486, and an unfixed load would have inserted 46,580,195 rows — January twice — silently corrupting every ratio.</a:t>
            </a:r>
          </a:p>
          <a:p>
            <a:pPr algn="l">
              <a:lnSpc>
                <a:spcPct val="110000"/>
              </a:lnSpc>
            </a:pPr>
            <a:r>
              <a:rPr sz="1300" b="1">
                <a:solidFill>
                  <a:srgbClr val="F87171"/>
                </a:solidFill>
                <a:latin typeface="Segoe UI"/>
              </a:rPr>
              <a:t>Lesson  </a:t>
            </a:r>
            <a:r>
              <a:rPr sz="1300" b="0">
                <a:solidFill>
                  <a:srgbClr val="A7B0C0"/>
                </a:solidFill>
                <a:latin typeface="Segoe UI"/>
              </a:rPr>
              <a:t>The Spark job was idempotent; the upload task was not. Idempotency is a property of the whole chain.</a:t>
            </a:r>
          </a:p>
        </p:txBody>
      </p:sp>
      <p:sp>
        <p:nvSpPr>
          <p:cNvPr id="8" name="Rounded Rectangle 7"/>
          <p:cNvSpPr/>
          <p:nvPr/>
        </p:nvSpPr>
        <p:spPr>
          <a:xfrm>
            <a:off x="548640" y="2569464"/>
            <a:ext cx="11094415" cy="1042415"/>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48640" y="2596896"/>
            <a:ext cx="76200" cy="987551"/>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9536" y="2688336"/>
            <a:ext cx="10527487" cy="822960"/>
          </a:xfrm>
          <a:prstGeom prst="rect">
            <a:avLst/>
          </a:prstGeom>
          <a:noFill/>
        </p:spPr>
        <p:txBody>
          <a:bodyPr wrap="square" lIns="0" rIns="0" tIns="0" bIns="0">
            <a:spAutoFit/>
          </a:bodyPr>
          <a:lstStyle/>
          <a:p>
            <a:pPr algn="l">
              <a:lnSpc>
                <a:spcPct val="112000"/>
              </a:lnSpc>
              <a:spcAft>
                <a:spcPts val="400"/>
              </a:spcAft>
            </a:pPr>
            <a:r>
              <a:rPr sz="1500" b="1">
                <a:solidFill>
                  <a:srgbClr val="F8FAFC"/>
                </a:solidFill>
                <a:latin typeface="Segoe UI"/>
              </a:rPr>
              <a:t>TRUNCATE, not DELETE, before COPY</a:t>
            </a:r>
            <a:r>
              <a:rPr sz="1500" b="0">
                <a:solidFill>
                  <a:srgbClr val="F8FAFC"/>
                </a:solidFill>
                <a:latin typeface="Segoe UI"/>
              </a:rPr>
              <a:t>    </a:t>
            </a:r>
            <a:r>
              <a:rPr sz="1500" b="0">
                <a:solidFill>
                  <a:srgbClr val="A7B0C0"/>
                </a:solidFill>
                <a:latin typeface="Segoe UI"/>
              </a:rPr>
              <a:t>Loading into a table that already held data doubled the row count.</a:t>
            </a:r>
          </a:p>
          <a:p>
            <a:pPr algn="l">
              <a:lnSpc>
                <a:spcPct val="110000"/>
              </a:lnSpc>
            </a:pPr>
            <a:r>
              <a:rPr sz="1300" b="1">
                <a:solidFill>
                  <a:srgbClr val="F87171"/>
                </a:solidFill>
                <a:latin typeface="Segoe UI"/>
              </a:rPr>
              <a:t>Lesson  </a:t>
            </a:r>
            <a:r>
              <a:rPr sz="1300" b="0">
                <a:solidFill>
                  <a:srgbClr val="A7B0C0"/>
                </a:solidFill>
                <a:latin typeface="Segoe UI"/>
              </a:rPr>
              <a:t>Snowflake tracks load metadata per file path. TRUNCATE clears it; DELETE does not.</a:t>
            </a:r>
          </a:p>
        </p:txBody>
      </p:sp>
      <p:sp>
        <p:nvSpPr>
          <p:cNvPr id="11" name="Rounded Rectangle 10"/>
          <p:cNvSpPr/>
          <p:nvPr/>
        </p:nvSpPr>
        <p:spPr>
          <a:xfrm>
            <a:off x="548640" y="3675887"/>
            <a:ext cx="11094415" cy="1042415"/>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48640" y="3703320"/>
            <a:ext cx="76200" cy="987551"/>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59536" y="3794759"/>
            <a:ext cx="10527487" cy="822960"/>
          </a:xfrm>
          <a:prstGeom prst="rect">
            <a:avLst/>
          </a:prstGeom>
          <a:noFill/>
        </p:spPr>
        <p:txBody>
          <a:bodyPr wrap="square" lIns="0" rIns="0" tIns="0" bIns="0">
            <a:spAutoFit/>
          </a:bodyPr>
          <a:lstStyle/>
          <a:p>
            <a:pPr algn="l">
              <a:lnSpc>
                <a:spcPct val="112000"/>
              </a:lnSpc>
              <a:spcAft>
                <a:spcPts val="400"/>
              </a:spcAft>
            </a:pPr>
            <a:r>
              <a:rPr sz="1500" b="1">
                <a:solidFill>
                  <a:srgbClr val="F8FAFC"/>
                </a:solidFill>
                <a:latin typeface="Segoe UI"/>
              </a:rPr>
              <a:t>A trust policy that matched nobody</a:t>
            </a:r>
            <a:r>
              <a:rPr sz="1500" b="0">
                <a:solidFill>
                  <a:srgbClr val="F8FAFC"/>
                </a:solidFill>
                <a:latin typeface="Segoe UI"/>
              </a:rPr>
              <a:t>    </a:t>
            </a:r>
            <a:r>
              <a:rPr sz="1500" b="0">
                <a:solidFill>
                  <a:srgbClr val="A7B0C0"/>
                </a:solidFill>
                <a:latin typeface="Segoe UI"/>
              </a:rPr>
              <a:t>GitHub changed its OIDC subject claim to embed numeric identifiers, enforced from 15 July 2026. My first policy was syntactically perfect.</a:t>
            </a:r>
          </a:p>
          <a:p>
            <a:pPr algn="l">
              <a:lnSpc>
                <a:spcPct val="110000"/>
              </a:lnSpc>
            </a:pPr>
            <a:r>
              <a:rPr sz="1300" b="1">
                <a:solidFill>
                  <a:srgbClr val="F87171"/>
                </a:solidFill>
                <a:latin typeface="Segoe UI"/>
              </a:rPr>
              <a:t>Lesson  </a:t>
            </a:r>
            <a:r>
              <a:rPr sz="1300" b="0">
                <a:solidFill>
                  <a:srgbClr val="A7B0C0"/>
                </a:solidFill>
                <a:latin typeface="Segoe UI"/>
              </a:rPr>
              <a:t>IAM validates syntax, not reachability. The only proof is an assume you have watched succeed.</a:t>
            </a:r>
          </a:p>
        </p:txBody>
      </p:sp>
      <p:sp>
        <p:nvSpPr>
          <p:cNvPr id="14" name="Rounded Rectangle 13"/>
          <p:cNvSpPr/>
          <p:nvPr/>
        </p:nvSpPr>
        <p:spPr>
          <a:xfrm>
            <a:off x="548640" y="4782312"/>
            <a:ext cx="11094415" cy="1042415"/>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48640" y="4809744"/>
            <a:ext cx="76200" cy="987551"/>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9536" y="4901183"/>
            <a:ext cx="10527487" cy="822960"/>
          </a:xfrm>
          <a:prstGeom prst="rect">
            <a:avLst/>
          </a:prstGeom>
          <a:noFill/>
        </p:spPr>
        <p:txBody>
          <a:bodyPr wrap="square" lIns="0" rIns="0" tIns="0" bIns="0">
            <a:spAutoFit/>
          </a:bodyPr>
          <a:lstStyle/>
          <a:p>
            <a:pPr algn="l">
              <a:lnSpc>
                <a:spcPct val="112000"/>
              </a:lnSpc>
              <a:spcAft>
                <a:spcPts val="400"/>
              </a:spcAft>
            </a:pPr>
            <a:r>
              <a:rPr sz="1500" b="1">
                <a:solidFill>
                  <a:srgbClr val="F8FAFC"/>
                </a:solidFill>
                <a:latin typeface="Segoe UI"/>
              </a:rPr>
              <a:t>Least privilege refused my own code</a:t>
            </a:r>
            <a:r>
              <a:rPr sz="1500" b="0">
                <a:solidFill>
                  <a:srgbClr val="F8FAFC"/>
                </a:solidFill>
                <a:latin typeface="Segoe UI"/>
              </a:rPr>
              <a:t>    </a:t>
            </a:r>
            <a:r>
              <a:rPr sz="1500" b="0">
                <a:solidFill>
                  <a:srgbClr val="A7B0C0"/>
                </a:solidFill>
                <a:latin typeface="Segoe UI"/>
              </a:rPr>
              <a:t>The Terraform policy blocked iam:ListOpenIDConnectProviders, which my own configuration depended on.</a:t>
            </a:r>
          </a:p>
          <a:p>
            <a:pPr algn="l">
              <a:lnSpc>
                <a:spcPct val="110000"/>
              </a:lnSpc>
            </a:pPr>
            <a:r>
              <a:rPr sz="1300" b="1">
                <a:solidFill>
                  <a:srgbClr val="F87171"/>
                </a:solidFill>
                <a:latin typeface="Segoe UI"/>
              </a:rPr>
              <a:t>Lesson  </a:t>
            </a:r>
            <a:r>
              <a:rPr sz="1300" b="0">
                <a:solidFill>
                  <a:srgbClr val="A7B0C0"/>
                </a:solidFill>
                <a:latin typeface="Segoe UI"/>
              </a:rPr>
              <a:t>The right fix was to remove the dependency, not to widen the policy.</a:t>
            </a:r>
          </a:p>
        </p:txBody>
      </p:sp>
      <p:sp>
        <p:nvSpPr>
          <p:cNvPr id="17"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18"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FF8A1F"/>
                </a:solidFill>
                <a:latin typeface="Segoe UI"/>
              </a:rPr>
              <a:t>COST</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What it actually cost to build and run</a:t>
            </a:r>
          </a:p>
        </p:txBody>
      </p:sp>
      <p:sp>
        <p:nvSpPr>
          <p:cNvPr id="5" name="Rounded Rectangle 4"/>
          <p:cNvSpPr/>
          <p:nvPr/>
        </p:nvSpPr>
        <p:spPr>
          <a:xfrm>
            <a:off x="548640" y="1481328"/>
            <a:ext cx="3503066" cy="2139696"/>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08760"/>
            <a:ext cx="76200" cy="2084831"/>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9536" y="1737360"/>
            <a:ext cx="2936138" cy="1645920"/>
          </a:xfrm>
          <a:prstGeom prst="rect">
            <a:avLst/>
          </a:prstGeom>
          <a:noFill/>
        </p:spPr>
        <p:txBody>
          <a:bodyPr wrap="square" lIns="0" rIns="0" tIns="0" bIns="0">
            <a:spAutoFit/>
          </a:bodyPr>
          <a:lstStyle/>
          <a:p>
            <a:pPr algn="l">
              <a:lnSpc>
                <a:spcPct val="100000"/>
              </a:lnSpc>
              <a:spcAft>
                <a:spcPts val="1000"/>
              </a:spcAft>
            </a:pPr>
            <a:r>
              <a:rPr sz="5600" b="1" i="0">
                <a:solidFill>
                  <a:srgbClr val="F8FAFC"/>
                </a:solidFill>
                <a:latin typeface="Segoe UI Semibold"/>
              </a:rPr>
              <a:t>$0.25</a:t>
            </a:r>
          </a:p>
          <a:p>
            <a:pPr algn="l">
              <a:lnSpc>
                <a:spcPct val="112000"/>
              </a:lnSpc>
              <a:spcAft>
                <a:spcPts val="500"/>
              </a:spcAft>
            </a:pPr>
            <a:r>
              <a:rPr sz="1600" b="1" i="0">
                <a:solidFill>
                  <a:srgbClr val="F8FAFC"/>
                </a:solidFill>
                <a:latin typeface="Segoe UI"/>
              </a:rPr>
              <a:t>Money actually paid</a:t>
            </a:r>
          </a:p>
          <a:p>
            <a:pPr algn="l">
              <a:lnSpc>
                <a:spcPct val="112000"/>
              </a:lnSpc>
            </a:pPr>
            <a:r>
              <a:rPr sz="1400" b="0" i="0">
                <a:solidFill>
                  <a:srgbClr val="A7B0C0"/>
                </a:solidFill>
                <a:latin typeface="Segoe UI"/>
              </a:rPr>
              <a:t>AWS S3, eu-central-1</a:t>
            </a:r>
          </a:p>
        </p:txBody>
      </p:sp>
      <p:sp>
        <p:nvSpPr>
          <p:cNvPr id="8" name="Rounded Rectangle 7"/>
          <p:cNvSpPr/>
          <p:nvPr/>
        </p:nvSpPr>
        <p:spPr>
          <a:xfrm>
            <a:off x="4344314" y="1481328"/>
            <a:ext cx="3503066" cy="2139696"/>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344314" y="1508760"/>
            <a:ext cx="76200" cy="2084831"/>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55210" y="1737360"/>
            <a:ext cx="2936138" cy="1645920"/>
          </a:xfrm>
          <a:prstGeom prst="rect">
            <a:avLst/>
          </a:prstGeom>
          <a:noFill/>
        </p:spPr>
        <p:txBody>
          <a:bodyPr wrap="square" lIns="0" rIns="0" tIns="0" bIns="0">
            <a:spAutoFit/>
          </a:bodyPr>
          <a:lstStyle/>
          <a:p>
            <a:pPr algn="l">
              <a:lnSpc>
                <a:spcPct val="100000"/>
              </a:lnSpc>
              <a:spcAft>
                <a:spcPts val="1000"/>
              </a:spcAft>
            </a:pPr>
            <a:r>
              <a:rPr sz="5600" b="1" i="0">
                <a:solidFill>
                  <a:srgbClr val="F8FAFC"/>
                </a:solidFill>
                <a:latin typeface="Segoe UI Semibold"/>
              </a:rPr>
              <a:t>$42</a:t>
            </a:r>
          </a:p>
          <a:p>
            <a:pPr algn="l">
              <a:lnSpc>
                <a:spcPct val="112000"/>
              </a:lnSpc>
              <a:spcAft>
                <a:spcPts val="500"/>
              </a:spcAft>
            </a:pPr>
            <a:r>
              <a:rPr sz="1600" b="1" i="0">
                <a:solidFill>
                  <a:srgbClr val="F8FAFC"/>
                </a:solidFill>
                <a:latin typeface="Segoe UI"/>
              </a:rPr>
              <a:t>Snowflake credit consumed</a:t>
            </a:r>
          </a:p>
          <a:p>
            <a:pPr algn="l">
              <a:lnSpc>
                <a:spcPct val="112000"/>
              </a:lnSpc>
            </a:pPr>
            <a:r>
              <a:rPr sz="1400" b="0" i="0">
                <a:solidFill>
                  <a:srgbClr val="A7B0C0"/>
                </a:solidFill>
                <a:latin typeface="Segoe UI"/>
              </a:rPr>
              <a:t>of a $400 free trial</a:t>
            </a:r>
          </a:p>
        </p:txBody>
      </p:sp>
      <p:sp>
        <p:nvSpPr>
          <p:cNvPr id="11" name="Rounded Rectangle 10"/>
          <p:cNvSpPr/>
          <p:nvPr/>
        </p:nvSpPr>
        <p:spPr>
          <a:xfrm>
            <a:off x="8139988" y="1481328"/>
            <a:ext cx="3503066" cy="2139696"/>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139988" y="1508760"/>
            <a:ext cx="76200" cy="2084831"/>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50884" y="1737360"/>
            <a:ext cx="2936138" cy="1645920"/>
          </a:xfrm>
          <a:prstGeom prst="rect">
            <a:avLst/>
          </a:prstGeom>
          <a:noFill/>
        </p:spPr>
        <p:txBody>
          <a:bodyPr wrap="square" lIns="0" rIns="0" tIns="0" bIns="0">
            <a:spAutoFit/>
          </a:bodyPr>
          <a:lstStyle/>
          <a:p>
            <a:pPr algn="l">
              <a:lnSpc>
                <a:spcPct val="100000"/>
              </a:lnSpc>
              <a:spcAft>
                <a:spcPts val="1000"/>
              </a:spcAft>
            </a:pPr>
            <a:r>
              <a:rPr sz="5600" b="1" i="0">
                <a:solidFill>
                  <a:srgbClr val="F8FAFC"/>
                </a:solidFill>
                <a:latin typeface="Segoe UI Semibold"/>
              </a:rPr>
              <a:t>$0</a:t>
            </a:r>
          </a:p>
          <a:p>
            <a:pPr algn="l">
              <a:lnSpc>
                <a:spcPct val="112000"/>
              </a:lnSpc>
              <a:spcAft>
                <a:spcPts val="500"/>
              </a:spcAft>
            </a:pPr>
            <a:r>
              <a:rPr sz="1600" b="1" i="0">
                <a:solidFill>
                  <a:srgbClr val="F8FAFC"/>
                </a:solidFill>
                <a:latin typeface="Segoe UI"/>
              </a:rPr>
              <a:t>dbt, Airflow, Spark, Docker</a:t>
            </a:r>
          </a:p>
          <a:p>
            <a:pPr algn="l">
              <a:lnSpc>
                <a:spcPct val="112000"/>
              </a:lnSpc>
            </a:pPr>
            <a:r>
              <a:rPr sz="1400" b="0" i="0">
                <a:solidFill>
                  <a:srgbClr val="A7B0C0"/>
                </a:solidFill>
                <a:latin typeface="Segoe UI"/>
              </a:rPr>
              <a:t>Terraform and GitHub Actions</a:t>
            </a:r>
          </a:p>
        </p:txBody>
      </p:sp>
      <p:pic>
        <p:nvPicPr>
          <p:cNvPr id="14" name="Picture 13" descr="amazons3.png"/>
          <p:cNvPicPr>
            <a:picLocks noChangeAspect="1"/>
          </p:cNvPicPr>
          <p:nvPr/>
        </p:nvPicPr>
        <p:blipFill>
          <a:blip r:embed="rId2"/>
          <a:stretch>
            <a:fillRect/>
          </a:stretch>
        </p:blipFill>
        <p:spPr>
          <a:xfrm>
            <a:off x="548640" y="3730752"/>
            <a:ext cx="274320" cy="274320"/>
          </a:xfrm>
          <a:prstGeom prst="rect">
            <a:avLst/>
          </a:prstGeom>
        </p:spPr>
      </p:pic>
      <p:pic>
        <p:nvPicPr>
          <p:cNvPr id="15" name="Picture 14" descr="snowflake.png"/>
          <p:cNvPicPr>
            <a:picLocks noChangeAspect="1"/>
          </p:cNvPicPr>
          <p:nvPr/>
        </p:nvPicPr>
        <p:blipFill>
          <a:blip r:embed="rId3"/>
          <a:stretch>
            <a:fillRect/>
          </a:stretch>
        </p:blipFill>
        <p:spPr>
          <a:xfrm>
            <a:off x="914400" y="3730752"/>
            <a:ext cx="274320" cy="274320"/>
          </a:xfrm>
          <a:prstGeom prst="rect">
            <a:avLst/>
          </a:prstGeom>
        </p:spPr>
      </p:pic>
      <p:sp>
        <p:nvSpPr>
          <p:cNvPr id="16" name="Rounded Rectangle 15"/>
          <p:cNvSpPr/>
          <p:nvPr/>
        </p:nvSpPr>
        <p:spPr>
          <a:xfrm>
            <a:off x="548640" y="4133087"/>
            <a:ext cx="11094415" cy="164592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4160520"/>
            <a:ext cx="76200" cy="1591056"/>
          </a:xfrm>
          <a:prstGeom prst="rect">
            <a:avLst/>
          </a:prstGeom>
          <a:solidFill>
            <a:srgbClr val="FF8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9536" y="4352544"/>
            <a:ext cx="10527487" cy="1298448"/>
          </a:xfrm>
          <a:prstGeom prst="rect">
            <a:avLst/>
          </a:prstGeom>
          <a:noFill/>
        </p:spPr>
        <p:txBody>
          <a:bodyPr wrap="square" lIns="0" rIns="0" tIns="0" bIns="0">
            <a:spAutoFit/>
          </a:bodyPr>
          <a:lstStyle/>
          <a:p>
            <a:pPr algn="l">
              <a:spcAft>
                <a:spcPts val="1000"/>
              </a:spcAft>
            </a:pPr>
            <a:r>
              <a:rPr sz="1300" b="1" i="0" spc="160">
                <a:solidFill>
                  <a:srgbClr val="FF8A1F"/>
                </a:solidFill>
                <a:latin typeface="Segoe UI"/>
              </a:rPr>
              <a:t>WHERE THE MONEY WOULD GO AT 10×</a:t>
            </a:r>
          </a:p>
          <a:p>
            <a:pPr algn="l">
              <a:lnSpc>
                <a:spcPct val="112000"/>
              </a:lnSpc>
              <a:spcAft>
                <a:spcPts val="700"/>
              </a:spcAft>
            </a:pPr>
            <a:r>
              <a:rPr sz="1500" b="0">
                <a:solidFill>
                  <a:srgbClr val="FF8A1F"/>
                </a:solidFill>
                <a:latin typeface="Segoe UI"/>
              </a:rPr>
              <a:t>—  </a:t>
            </a:r>
            <a:r>
              <a:rPr sz="1500" b="0">
                <a:solidFill>
                  <a:srgbClr val="A7B0C0"/>
                </a:solidFill>
                <a:latin typeface="Segoe UI"/>
              </a:rPr>
              <a:t>Only about 8 GB is in the cloud — the 64 GB of Bronze never left the laptop.</a:t>
            </a:r>
          </a:p>
          <a:p>
            <a:pPr algn="l">
              <a:lnSpc>
                <a:spcPct val="112000"/>
              </a:lnSpc>
              <a:spcAft>
                <a:spcPts val="700"/>
              </a:spcAft>
            </a:pPr>
            <a:r>
              <a:rPr sz="1500" b="0">
                <a:solidFill>
                  <a:srgbClr val="FF8A1F"/>
                </a:solidFill>
                <a:latin typeface="Segoe UI"/>
              </a:rPr>
              <a:t>—  </a:t>
            </a:r>
            <a:r>
              <a:rPr sz="1500" b="0">
                <a:solidFill>
                  <a:srgbClr val="A7B0C0"/>
                </a:solidFill>
                <a:latin typeface="Segoe UI"/>
              </a:rPr>
              <a:t>At 10× the data, S3 would still cost under $1 per month.</a:t>
            </a:r>
          </a:p>
          <a:p>
            <a:pPr algn="l">
              <a:lnSpc>
                <a:spcPct val="112000"/>
              </a:lnSpc>
              <a:spcAft>
                <a:spcPts val="700"/>
              </a:spcAft>
            </a:pPr>
            <a:r>
              <a:rPr sz="1500" b="0">
                <a:solidFill>
                  <a:srgbClr val="FF8A1F"/>
                </a:solidFill>
                <a:latin typeface="Segoe UI"/>
              </a:rPr>
              <a:t>—  </a:t>
            </a:r>
            <a:r>
              <a:rPr sz="1500" b="0">
                <a:solidFill>
                  <a:srgbClr val="A7B0C0"/>
                </a:solidFill>
                <a:latin typeface="Segoe UI"/>
              </a:rPr>
              <a:t>The ceiling is laptop disk and Spark runtime, not money.</a:t>
            </a:r>
          </a:p>
        </p:txBody>
      </p:sp>
      <p:sp>
        <p:nvSpPr>
          <p:cNvPr id="19"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20"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0B17"/>
        </a:solidFill>
        <a:effectLst/>
      </p:bgPr>
    </p:bg>
    <p:spTree>
      <p:nvGrpSpPr>
        <p:cNvPr id="1" name=""/>
        <p:cNvGrpSpPr/>
        <p:nvPr/>
      </p:nvGrpSpPr>
      <p:grpSpPr/>
      <p:sp>
        <p:nvSpPr>
          <p:cNvPr id="2" name="topaccent"/>
          <p:cNvSpPr/>
          <p:nvPr/>
        </p:nvSpPr>
        <p:spPr>
          <a:xfrm>
            <a:off x="0" y="0"/>
            <a:ext cx="12191695" cy="381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66928"/>
            <a:ext cx="11094415" cy="219456"/>
          </a:xfrm>
          <a:prstGeom prst="rect">
            <a:avLst/>
          </a:prstGeom>
          <a:noFill/>
        </p:spPr>
        <p:txBody>
          <a:bodyPr wrap="square" lIns="0" rIns="0" tIns="0" bIns="0">
            <a:spAutoFit/>
          </a:bodyPr>
          <a:lstStyle/>
          <a:p>
            <a:pPr algn="l"/>
            <a:r>
              <a:rPr sz="1300" b="1" i="0" spc="160">
                <a:solidFill>
                  <a:srgbClr val="22C55E"/>
                </a:solidFill>
                <a:latin typeface="Segoe UI"/>
              </a:rPr>
              <a:t>CLOSING</a:t>
            </a:r>
          </a:p>
        </p:txBody>
      </p:sp>
      <p:sp>
        <p:nvSpPr>
          <p:cNvPr id="4" name="TextBox 3"/>
          <p:cNvSpPr txBox="1"/>
          <p:nvPr/>
        </p:nvSpPr>
        <p:spPr>
          <a:xfrm>
            <a:off x="548640" y="786384"/>
            <a:ext cx="11094415" cy="530352"/>
          </a:xfrm>
          <a:prstGeom prst="rect">
            <a:avLst/>
          </a:prstGeom>
          <a:noFill/>
        </p:spPr>
        <p:txBody>
          <a:bodyPr wrap="square" lIns="0" rIns="0" tIns="0" bIns="0">
            <a:spAutoFit/>
          </a:bodyPr>
          <a:lstStyle/>
          <a:p>
            <a:pPr algn="l"/>
            <a:r>
              <a:rPr sz="3200" b="1" i="0">
                <a:solidFill>
                  <a:srgbClr val="F8FAFC"/>
                </a:solidFill>
                <a:latin typeface="Segoe UI Semibold"/>
              </a:rPr>
              <a:t>What this project delivers</a:t>
            </a:r>
          </a:p>
        </p:txBody>
      </p:sp>
      <p:sp>
        <p:nvSpPr>
          <p:cNvPr id="5" name="Rounded Rectangle 4"/>
          <p:cNvSpPr/>
          <p:nvPr/>
        </p:nvSpPr>
        <p:spPr>
          <a:xfrm>
            <a:off x="548640" y="1481328"/>
            <a:ext cx="3503066" cy="265176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508760"/>
            <a:ext cx="76200" cy="2596896"/>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9536" y="1737360"/>
            <a:ext cx="2936138" cy="2194560"/>
          </a:xfrm>
          <a:prstGeom prst="rect">
            <a:avLst/>
          </a:prstGeom>
          <a:noFill/>
        </p:spPr>
        <p:txBody>
          <a:bodyPr wrap="square" lIns="0" rIns="0" tIns="0" bIns="0">
            <a:spAutoFit/>
          </a:bodyPr>
          <a:lstStyle/>
          <a:p>
            <a:pPr algn="l">
              <a:spcAft>
                <a:spcPts val="1200"/>
              </a:spcAft>
            </a:pPr>
            <a:r>
              <a:rPr sz="1300" b="1" i="0" spc="160">
                <a:solidFill>
                  <a:srgbClr val="22C55E"/>
                </a:solidFill>
                <a:latin typeface="Segoe UI"/>
              </a:rPr>
              <a:t>BUILT</a:t>
            </a:r>
          </a:p>
          <a:p>
            <a:pPr algn="l">
              <a:lnSpc>
                <a:spcPct val="114000"/>
              </a:lnSpc>
              <a:spcAft>
                <a:spcPts val="1100"/>
              </a:spcAft>
            </a:pPr>
            <a:r>
              <a:rPr sz="1500" b="0">
                <a:solidFill>
                  <a:srgbClr val="22C55E"/>
                </a:solidFill>
                <a:latin typeface="Segoe UI"/>
              </a:rPr>
              <a:t>—  </a:t>
            </a:r>
            <a:r>
              <a:rPr sz="1500" b="0">
                <a:solidFill>
                  <a:srgbClr val="A7B0C0"/>
                </a:solidFill>
                <a:latin typeface="Segoe UI"/>
              </a:rPr>
              <a:t>An 8-task Airflow DAG, run end to end</a:t>
            </a:r>
          </a:p>
          <a:p>
            <a:pPr algn="l">
              <a:lnSpc>
                <a:spcPct val="114000"/>
              </a:lnSpc>
              <a:spcAft>
                <a:spcPts val="1100"/>
              </a:spcAft>
            </a:pPr>
            <a:r>
              <a:rPr sz="1500" b="0">
                <a:solidFill>
                  <a:srgbClr val="22C55E"/>
                </a:solidFill>
                <a:latin typeface="Segoe UI"/>
              </a:rPr>
              <a:t>—  </a:t>
            </a:r>
            <a:r>
              <a:rPr sz="1500" b="0">
                <a:solidFill>
                  <a:srgbClr val="A7B0C0"/>
                </a:solidFill>
                <a:latin typeface="Segoe UI"/>
              </a:rPr>
              <a:t>PySpark Silver at a defined grain, 45,030,932 rows</a:t>
            </a:r>
          </a:p>
          <a:p>
            <a:pPr algn="l">
              <a:lnSpc>
                <a:spcPct val="114000"/>
              </a:lnSpc>
              <a:spcAft>
                <a:spcPts val="1100"/>
              </a:spcAft>
            </a:pPr>
            <a:r>
              <a:rPr sz="1500" b="0">
                <a:solidFill>
                  <a:srgbClr val="22C55E"/>
                </a:solidFill>
                <a:latin typeface="Segoe UI"/>
              </a:rPr>
              <a:t>—  </a:t>
            </a:r>
            <a:r>
              <a:rPr sz="1500" b="0">
                <a:solidFill>
                  <a:srgbClr val="A7B0C0"/>
                </a:solidFill>
                <a:latin typeface="Segoe UI"/>
              </a:rPr>
              <a:t>A dbt star schema, 10 models</a:t>
            </a:r>
          </a:p>
        </p:txBody>
      </p:sp>
      <p:sp>
        <p:nvSpPr>
          <p:cNvPr id="8" name="Rounded Rectangle 7"/>
          <p:cNvSpPr/>
          <p:nvPr/>
        </p:nvSpPr>
        <p:spPr>
          <a:xfrm>
            <a:off x="4344314" y="1481328"/>
            <a:ext cx="3503066" cy="265176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344314" y="1508760"/>
            <a:ext cx="76200" cy="2596896"/>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55210" y="1737360"/>
            <a:ext cx="2936138" cy="2194560"/>
          </a:xfrm>
          <a:prstGeom prst="rect">
            <a:avLst/>
          </a:prstGeom>
          <a:noFill/>
        </p:spPr>
        <p:txBody>
          <a:bodyPr wrap="square" lIns="0" rIns="0" tIns="0" bIns="0">
            <a:spAutoFit/>
          </a:bodyPr>
          <a:lstStyle/>
          <a:p>
            <a:pPr algn="l">
              <a:spcAft>
                <a:spcPts val="1200"/>
              </a:spcAft>
            </a:pPr>
            <a:r>
              <a:rPr sz="1300" b="1" i="0" spc="160">
                <a:solidFill>
                  <a:srgbClr val="22C55E"/>
                </a:solidFill>
                <a:latin typeface="Segoe UI"/>
              </a:rPr>
              <a:t>VERIFIED</a:t>
            </a:r>
          </a:p>
          <a:p>
            <a:pPr algn="l">
              <a:lnSpc>
                <a:spcPct val="114000"/>
              </a:lnSpc>
              <a:spcAft>
                <a:spcPts val="1100"/>
              </a:spcAft>
            </a:pPr>
            <a:r>
              <a:rPr sz="1500" b="0">
                <a:solidFill>
                  <a:srgbClr val="22C55E"/>
                </a:solidFill>
                <a:latin typeface="Segoe UI"/>
              </a:rPr>
              <a:t>—  </a:t>
            </a:r>
            <a:r>
              <a:rPr sz="1500" b="0">
                <a:solidFill>
                  <a:srgbClr val="A7B0C0"/>
                </a:solidFill>
                <a:latin typeface="Segoe UI"/>
              </a:rPr>
              <a:t>42 dbt tests and 21 Python tests passing</a:t>
            </a:r>
          </a:p>
          <a:p>
            <a:pPr algn="l">
              <a:lnSpc>
                <a:spcPct val="114000"/>
              </a:lnSpc>
              <a:spcAft>
                <a:spcPts val="1100"/>
              </a:spcAft>
            </a:pPr>
            <a:r>
              <a:rPr sz="1500" b="0">
                <a:solidFill>
                  <a:srgbClr val="22C55E"/>
                </a:solidFill>
                <a:latin typeface="Segoe UI"/>
              </a:rPr>
              <a:t>—  </a:t>
            </a:r>
            <a:r>
              <a:rPr sz="1500" b="0">
                <a:solidFill>
                  <a:srgbClr val="A7B0C0"/>
                </a:solidFill>
                <a:latin typeface="Segoe UI"/>
              </a:rPr>
              <a:t>4 workflows, 8 checks</a:t>
            </a:r>
          </a:p>
          <a:p>
            <a:pPr algn="l">
              <a:lnSpc>
                <a:spcPct val="114000"/>
              </a:lnSpc>
              <a:spcAft>
                <a:spcPts val="1100"/>
              </a:spcAft>
            </a:pPr>
            <a:r>
              <a:rPr sz="1500" b="0">
                <a:solidFill>
                  <a:srgbClr val="22C55E"/>
                </a:solidFill>
                <a:latin typeface="Segoe UI"/>
              </a:rPr>
              <a:t>—  </a:t>
            </a:r>
            <a:r>
              <a:rPr sz="1500" b="0">
                <a:solidFill>
                  <a:srgbClr val="A7B0C0"/>
                </a:solidFill>
                <a:latin typeface="Segoe UI"/>
              </a:rPr>
              <a:t>Every gate proven by making it fail</a:t>
            </a:r>
          </a:p>
        </p:txBody>
      </p:sp>
      <p:sp>
        <p:nvSpPr>
          <p:cNvPr id="11" name="Rounded Rectangle 10"/>
          <p:cNvSpPr/>
          <p:nvPr/>
        </p:nvSpPr>
        <p:spPr>
          <a:xfrm>
            <a:off x="8139988" y="1481328"/>
            <a:ext cx="3503066" cy="2651760"/>
          </a:xfrm>
          <a:prstGeom prst="roundRect">
            <a:avLst>
              <a:gd name="adj" fmla="val 5500"/>
            </a:avLst>
          </a:prstGeom>
          <a:solidFill>
            <a:srgbClr val="111827"/>
          </a:solidFill>
          <a:ln w="12700">
            <a:solidFill>
              <a:srgbClr val="263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139988" y="1508760"/>
            <a:ext cx="76200" cy="2596896"/>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50884" y="1737360"/>
            <a:ext cx="2936138" cy="2194560"/>
          </a:xfrm>
          <a:prstGeom prst="rect">
            <a:avLst/>
          </a:prstGeom>
          <a:noFill/>
        </p:spPr>
        <p:txBody>
          <a:bodyPr wrap="square" lIns="0" rIns="0" tIns="0" bIns="0">
            <a:spAutoFit/>
          </a:bodyPr>
          <a:lstStyle/>
          <a:p>
            <a:pPr algn="l">
              <a:spcAft>
                <a:spcPts val="1200"/>
              </a:spcAft>
            </a:pPr>
            <a:r>
              <a:rPr sz="1300" b="1" i="0" spc="160">
                <a:solidFill>
                  <a:srgbClr val="22C55E"/>
                </a:solidFill>
                <a:latin typeface="Segoe UI"/>
              </a:rPr>
              <a:t>DELIVERED</a:t>
            </a:r>
          </a:p>
          <a:p>
            <a:pPr algn="l">
              <a:lnSpc>
                <a:spcPct val="114000"/>
              </a:lnSpc>
              <a:spcAft>
                <a:spcPts val="1100"/>
              </a:spcAft>
            </a:pPr>
            <a:r>
              <a:rPr sz="1500" b="0">
                <a:solidFill>
                  <a:srgbClr val="22C55E"/>
                </a:solidFill>
                <a:latin typeface="Segoe UI"/>
              </a:rPr>
              <a:t>—  </a:t>
            </a:r>
            <a:r>
              <a:rPr sz="1500" b="0">
                <a:solidFill>
                  <a:srgbClr val="A7B0C0"/>
                </a:solidFill>
                <a:latin typeface="Segoe UI"/>
              </a:rPr>
              <a:t>1,240,645 drug-reaction pairs scored</a:t>
            </a:r>
          </a:p>
          <a:p>
            <a:pPr algn="l">
              <a:lnSpc>
                <a:spcPct val="114000"/>
              </a:lnSpc>
              <a:spcAft>
                <a:spcPts val="1100"/>
              </a:spcAft>
            </a:pPr>
            <a:r>
              <a:rPr sz="1500" b="0">
                <a:solidFill>
                  <a:srgbClr val="22C55E"/>
                </a:solidFill>
                <a:latin typeface="Segoe UI"/>
              </a:rPr>
              <a:t>—  </a:t>
            </a:r>
            <a:r>
              <a:rPr sz="1500" b="0">
                <a:solidFill>
                  <a:srgbClr val="A7B0C0"/>
                </a:solidFill>
                <a:latin typeface="Segoe UI"/>
              </a:rPr>
              <a:t>315,270 candidate signals ranked</a:t>
            </a:r>
          </a:p>
          <a:p>
            <a:pPr algn="l">
              <a:lnSpc>
                <a:spcPct val="114000"/>
              </a:lnSpc>
              <a:spcAft>
                <a:spcPts val="1100"/>
              </a:spcAft>
            </a:pPr>
            <a:r>
              <a:rPr sz="1500" b="0">
                <a:solidFill>
                  <a:srgbClr val="22C55E"/>
                </a:solidFill>
                <a:latin typeface="Segoe UI"/>
              </a:rPr>
              <a:t>—  </a:t>
            </a:r>
            <a:r>
              <a:rPr sz="1500" b="0">
                <a:solidFill>
                  <a:srgbClr val="A7B0C0"/>
                </a:solidFill>
                <a:latin typeface="Segoe UI"/>
              </a:rPr>
              <a:t>A hosted dashboard built for triage</a:t>
            </a:r>
          </a:p>
        </p:txBody>
      </p:sp>
      <p:sp>
        <p:nvSpPr>
          <p:cNvPr id="14" name="Rectangle 13"/>
          <p:cNvSpPr/>
          <p:nvPr/>
        </p:nvSpPr>
        <p:spPr>
          <a:xfrm>
            <a:off x="5090007" y="4480560"/>
            <a:ext cx="2011680" cy="381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40" y="4718304"/>
            <a:ext cx="11094415" cy="777240"/>
          </a:xfrm>
          <a:prstGeom prst="rect">
            <a:avLst/>
          </a:prstGeom>
          <a:noFill/>
        </p:spPr>
        <p:txBody>
          <a:bodyPr wrap="square" lIns="0" rIns="0" tIns="0" bIns="0">
            <a:spAutoFit/>
          </a:bodyPr>
          <a:lstStyle/>
          <a:p>
            <a:pPr algn="ctr"/>
            <a:r>
              <a:rPr sz="4000" b="1" i="0">
                <a:solidFill>
                  <a:srgbClr val="F8FAFC"/>
                </a:solidFill>
                <a:latin typeface="Segoe UI Semibold"/>
              </a:rPr>
              <a:t>Thank you — Questions?</a:t>
            </a:r>
          </a:p>
        </p:txBody>
      </p:sp>
      <p:sp>
        <p:nvSpPr>
          <p:cNvPr id="16" name="footer_label"/>
          <p:cNvSpPr txBox="1"/>
          <p:nvPr/>
        </p:nvSpPr>
        <p:spPr>
          <a:xfrm>
            <a:off x="548640" y="6035040"/>
            <a:ext cx="5486400" cy="256032"/>
          </a:xfrm>
          <a:prstGeom prst="rect">
            <a:avLst/>
          </a:prstGeom>
          <a:noFill/>
        </p:spPr>
        <p:txBody>
          <a:bodyPr wrap="square" lIns="0" rIns="0" tIns="0" bIns="0">
            <a:spAutoFit/>
          </a:bodyPr>
          <a:lstStyle/>
          <a:p>
            <a:pPr algn="l"/>
            <a:r>
              <a:rPr sz="1100" b="0" i="0">
                <a:solidFill>
                  <a:srgbClr val="A7B0C0"/>
                </a:solidFill>
                <a:latin typeface="Segoe UI"/>
              </a:rPr>
              <a:t>OpenFDA Drug Safety Signal Pipeline</a:t>
            </a:r>
          </a:p>
        </p:txBody>
      </p:sp>
      <p:sp>
        <p:nvSpPr>
          <p:cNvPr id="17" name="footer_number"/>
          <p:cNvSpPr txBox="1"/>
          <p:nvPr/>
        </p:nvSpPr>
        <p:spPr>
          <a:xfrm>
            <a:off x="8899855" y="6035040"/>
            <a:ext cx="2743200" cy="256032"/>
          </a:xfrm>
          <a:prstGeom prst="rect">
            <a:avLst/>
          </a:prstGeom>
          <a:noFill/>
        </p:spPr>
        <p:txBody>
          <a:bodyPr wrap="square" lIns="0" rIns="0" tIns="0" bIns="0">
            <a:spAutoFit/>
          </a:bodyPr>
          <a:lstStyle/>
          <a:p>
            <a:pPr algn="r"/>
            <a:r>
              <a:rPr sz="1100" b="0" i="0">
                <a:solidFill>
                  <a:srgbClr val="A7B0C0"/>
                </a:solidFill>
                <a:latin typeface="Segoe U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Latn" typeface="Arial"/>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Latn"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